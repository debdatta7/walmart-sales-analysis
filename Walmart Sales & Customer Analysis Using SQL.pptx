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82"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6323A-04B7-2122-5A83-E7220B4631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B3C6F1-8769-6A9F-809E-9A9C5446AC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D26FFAD-2D41-B84C-AEBE-CD9E29ED3D13}"/>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5" name="Footer Placeholder 4">
            <a:extLst>
              <a:ext uri="{FF2B5EF4-FFF2-40B4-BE49-F238E27FC236}">
                <a16:creationId xmlns:a16="http://schemas.microsoft.com/office/drawing/2014/main" id="{C20A590E-5F5E-72A8-418E-FB91547090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F53ADF-5725-F766-65AE-A25771CE3FBE}"/>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845959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3908A-32B9-C393-588C-FC590D36DB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00AF8A-B5F9-8887-AFCD-8EAF726E9C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23DE2C-6805-8419-0291-A287C60B767B}"/>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5" name="Footer Placeholder 4">
            <a:extLst>
              <a:ext uri="{FF2B5EF4-FFF2-40B4-BE49-F238E27FC236}">
                <a16:creationId xmlns:a16="http://schemas.microsoft.com/office/drawing/2014/main" id="{69FB2E77-38D7-E245-BA4F-1497F8B421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840479-BA47-DE1D-28E7-77C72A1D1A53}"/>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1580239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FC1DD-55DE-407F-0526-3A6CC9DA67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DB5E000-A321-1ACF-B95F-EC1E74C08E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2E5B72-7140-95DA-DCD7-162C83065890}"/>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5" name="Footer Placeholder 4">
            <a:extLst>
              <a:ext uri="{FF2B5EF4-FFF2-40B4-BE49-F238E27FC236}">
                <a16:creationId xmlns:a16="http://schemas.microsoft.com/office/drawing/2014/main" id="{545376C8-8D1A-C726-725D-8CC1ABA529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E439CD-51E2-BB73-6740-A357460294F7}"/>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2838223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2A2E-2C99-879B-DDD0-FF27045FB7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BE1834-086E-8B78-7AAF-3F2BDE32C2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60931E3-828C-CAE9-F841-441BA5154A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02F4F2-14B7-F16F-E07E-838AF62A19E5}"/>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6" name="Footer Placeholder 5">
            <a:extLst>
              <a:ext uri="{FF2B5EF4-FFF2-40B4-BE49-F238E27FC236}">
                <a16:creationId xmlns:a16="http://schemas.microsoft.com/office/drawing/2014/main" id="{BF174FBD-B188-F6BE-2112-60988D360D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F9EAF0-0C75-12C2-BDA9-80A99119CA4B}"/>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2907458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DDB6E-2EE9-5481-5E9D-F418D852E1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080D50-A1B4-1989-5C5D-5218C973FA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41DA81-5F5D-EF73-F155-73426CFD8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ADF1B6-D92E-5BDA-1AF1-B3211DFE87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861AE3-1A0A-6382-7F9F-22AB061D6A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E53B2DD-36E7-1CD8-BA6F-FBA85CF883EB}"/>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8" name="Footer Placeholder 7">
            <a:extLst>
              <a:ext uri="{FF2B5EF4-FFF2-40B4-BE49-F238E27FC236}">
                <a16:creationId xmlns:a16="http://schemas.microsoft.com/office/drawing/2014/main" id="{C0464CAB-EE35-3227-4DBB-21A85CAB98A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2CFEB2F-EFCB-7FAF-E54E-36899480BDE7}"/>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3623043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05149-4A22-4FF0-E5DB-9BA7AB64FE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9FC2015-B6AF-7CE1-E0EB-58C47A0C22D5}"/>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4" name="Footer Placeholder 3">
            <a:extLst>
              <a:ext uri="{FF2B5EF4-FFF2-40B4-BE49-F238E27FC236}">
                <a16:creationId xmlns:a16="http://schemas.microsoft.com/office/drawing/2014/main" id="{BAC8D8B0-FA09-578D-FE9E-80EB8A1EACD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02B924D-4454-9B01-9120-E09B9CD17172}"/>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2797055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83F6E1-C63B-6C61-C56C-EC5D96D03F45}"/>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3" name="Footer Placeholder 2">
            <a:extLst>
              <a:ext uri="{FF2B5EF4-FFF2-40B4-BE49-F238E27FC236}">
                <a16:creationId xmlns:a16="http://schemas.microsoft.com/office/drawing/2014/main" id="{AE6DCE2F-684A-9184-954D-9CF09FF3A2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F2139B-4709-D606-3C2B-0DCE635D28AB}"/>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624400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2D411-C376-1275-7E58-6956D1F9D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01C8D16-0D88-D824-D6CD-BD0003ADB8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ECDB66-EB93-5644-C6AA-4916815B1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F0576E-5D7F-62C8-24AF-EDCFD2E5E7C3}"/>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6" name="Footer Placeholder 5">
            <a:extLst>
              <a:ext uri="{FF2B5EF4-FFF2-40B4-BE49-F238E27FC236}">
                <a16:creationId xmlns:a16="http://schemas.microsoft.com/office/drawing/2014/main" id="{9F805DB0-416B-17F3-4970-5712A17534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9F0DD7-5FA7-2672-D31F-F91D14604DB3}"/>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501023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89955-E8D0-7B7D-055F-66F9A3D0B7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C2C00E7-8797-32C4-3981-BA3EF0A255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31C28D-301F-F8CF-4065-230D74129B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EE67A9-79E7-343D-80ED-86290290DBD1}"/>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6" name="Footer Placeholder 5">
            <a:extLst>
              <a:ext uri="{FF2B5EF4-FFF2-40B4-BE49-F238E27FC236}">
                <a16:creationId xmlns:a16="http://schemas.microsoft.com/office/drawing/2014/main" id="{DB6B9198-D193-DD4B-C3CF-3ADAA2E512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C820DE-5EA7-0D4C-9A02-D78BC7A633A1}"/>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890400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B2142-FA5C-4FD3-0C3B-688D88F7C4C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CACBF2-3B97-CC7F-3472-370FC7D71D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425291-F154-69ED-707A-93C89A4D1513}"/>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5" name="Footer Placeholder 4">
            <a:extLst>
              <a:ext uri="{FF2B5EF4-FFF2-40B4-BE49-F238E27FC236}">
                <a16:creationId xmlns:a16="http://schemas.microsoft.com/office/drawing/2014/main" id="{633BC329-9401-9B83-9AE2-3D5F2BD6C0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A295B0-6B85-CA49-A0E3-FA1CDC316DE6}"/>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2731744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A7552E-25A5-0170-D141-353173E4954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B98E4A-857D-6234-0164-15E5C471B0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B477AC-708E-1906-06C0-90C87228662F}"/>
              </a:ext>
            </a:extLst>
          </p:cNvPr>
          <p:cNvSpPr>
            <a:spLocks noGrp="1"/>
          </p:cNvSpPr>
          <p:nvPr>
            <p:ph type="dt" sz="half" idx="10"/>
          </p:nvPr>
        </p:nvSpPr>
        <p:spPr/>
        <p:txBody>
          <a:bodyPr/>
          <a:lstStyle/>
          <a:p>
            <a:fld id="{6E294DCC-1393-47CE-9AC1-4E17355BCB63}" type="datetimeFigureOut">
              <a:rPr lang="en-IN" smtClean="0"/>
              <a:t>13-10-2025</a:t>
            </a:fld>
            <a:endParaRPr lang="en-IN"/>
          </a:p>
        </p:txBody>
      </p:sp>
      <p:sp>
        <p:nvSpPr>
          <p:cNvPr id="5" name="Footer Placeholder 4">
            <a:extLst>
              <a:ext uri="{FF2B5EF4-FFF2-40B4-BE49-F238E27FC236}">
                <a16:creationId xmlns:a16="http://schemas.microsoft.com/office/drawing/2014/main" id="{D42A11D7-1654-023A-D762-050E87AC99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B6F785-3300-2D0C-D4C5-D7104894B825}"/>
              </a:ext>
            </a:extLst>
          </p:cNvPr>
          <p:cNvSpPr>
            <a:spLocks noGrp="1"/>
          </p:cNvSpPr>
          <p:nvPr>
            <p:ph type="sldNum" sz="quarter" idx="12"/>
          </p:nvPr>
        </p:nvSpPr>
        <p:spPr/>
        <p:txBody>
          <a:bodyPr/>
          <a:lstStyle/>
          <a:p>
            <a:fld id="{2EC1B39C-D682-4497-93D1-0FA966A3F316}" type="slidenum">
              <a:rPr lang="en-IN" smtClean="0"/>
              <a:t>‹#›</a:t>
            </a:fld>
            <a:endParaRPr lang="en-IN"/>
          </a:p>
        </p:txBody>
      </p:sp>
    </p:spTree>
    <p:extLst>
      <p:ext uri="{BB962C8B-B14F-4D97-AF65-F5344CB8AC3E}">
        <p14:creationId xmlns:p14="http://schemas.microsoft.com/office/powerpoint/2010/main" val="1886705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44571B-CD66-99C5-1961-C56A021948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E5C160-6C5A-7575-CB3B-1236D17BCF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54753C-311E-2D16-44DD-71A940C428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294DCC-1393-47CE-9AC1-4E17355BCB63}" type="datetimeFigureOut">
              <a:rPr lang="en-IN" smtClean="0"/>
              <a:t>13-10-2025</a:t>
            </a:fld>
            <a:endParaRPr lang="en-IN"/>
          </a:p>
        </p:txBody>
      </p:sp>
      <p:sp>
        <p:nvSpPr>
          <p:cNvPr id="5" name="Footer Placeholder 4">
            <a:extLst>
              <a:ext uri="{FF2B5EF4-FFF2-40B4-BE49-F238E27FC236}">
                <a16:creationId xmlns:a16="http://schemas.microsoft.com/office/drawing/2014/main" id="{43A28336-A84E-48AC-C959-DA9D5577DF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45D10F4-8985-1F36-52A6-B02B5F0021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C1B39C-D682-4497-93D1-0FA966A3F316}" type="slidenum">
              <a:rPr lang="en-IN" smtClean="0"/>
              <a:t>‹#›</a:t>
            </a:fld>
            <a:endParaRPr lang="en-IN"/>
          </a:p>
        </p:txBody>
      </p:sp>
    </p:spTree>
    <p:extLst>
      <p:ext uri="{BB962C8B-B14F-4D97-AF65-F5344CB8AC3E}">
        <p14:creationId xmlns:p14="http://schemas.microsoft.com/office/powerpoint/2010/main" val="1023756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eg"/><Relationship Id="rId1" Type="http://schemas.openxmlformats.org/officeDocument/2006/relationships/slideLayout" Target="../slideLayouts/slideLayout6.xml"/><Relationship Id="rId5" Type="http://schemas.microsoft.com/office/2007/relationships/hdphoto" Target="../media/hdphoto2.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7" Type="http://schemas.microsoft.com/office/2007/relationships/hdphoto" Target="../media/hdphoto2.wdp"/><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7.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8.JPG"/><Relationship Id="rId7"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12.JPG"/><Relationship Id="rId7" Type="http://schemas.openxmlformats.org/officeDocument/2006/relationships/image" Target="../media/image16.JP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15.JPG"/><Relationship Id="rId5" Type="http://schemas.openxmlformats.org/officeDocument/2006/relationships/image" Target="../media/image14.JPG"/><Relationship Id="rId10" Type="http://schemas.microsoft.com/office/2007/relationships/hdphoto" Target="../media/hdphoto2.wdp"/><Relationship Id="rId4" Type="http://schemas.openxmlformats.org/officeDocument/2006/relationships/image" Target="../media/image13.JPG"/><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22.JP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21.JPG"/><Relationship Id="rId5" Type="http://schemas.openxmlformats.org/officeDocument/2006/relationships/image" Target="../media/image20.JPG"/><Relationship Id="rId10" Type="http://schemas.microsoft.com/office/2007/relationships/hdphoto" Target="../media/hdphoto2.wdp"/><Relationship Id="rId4" Type="http://schemas.openxmlformats.org/officeDocument/2006/relationships/image" Target="../media/image19.JPG"/><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4.JPG"/><Relationship Id="rId7" Type="http://schemas.openxmlformats.org/officeDocument/2006/relationships/image" Target="../media/image28.JP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G"/><Relationship Id="rId9" Type="http://schemas.microsoft.com/office/2007/relationships/hdphoto" Target="../media/hdphoto2.wdp"/></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extLst>
              <a:ext uri="{BEBA8EAE-BF5A-486C-A8C5-ECC9F3942E4B}">
                <a14:imgProps xmlns:a14="http://schemas.microsoft.com/office/drawing/2010/main">
                  <a14:imgLayer r:embed="rId3">
                    <a14:imgEffect>
                      <a14:brightnessContrast bright="-20000" contrast="-40000"/>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72C88-39B4-011E-DD7E-0E4F8797B2EE}"/>
              </a:ext>
            </a:extLst>
          </p:cNvPr>
          <p:cNvSpPr>
            <a:spLocks noGrp="1"/>
          </p:cNvSpPr>
          <p:nvPr>
            <p:ph type="title"/>
          </p:nvPr>
        </p:nvSpPr>
        <p:spPr>
          <a:xfrm>
            <a:off x="266700" y="1953192"/>
            <a:ext cx="11658600" cy="878499"/>
          </a:xfrm>
          <a:noFill/>
          <a:ln>
            <a:noFill/>
          </a:ln>
        </p:spPr>
        <p:txBody>
          <a:bodyPr>
            <a:normAutofit/>
          </a:bodyPr>
          <a:lstStyle/>
          <a:p>
            <a:r>
              <a:rPr lang="en-US" sz="4000" b="1" dirty="0">
                <a:solidFill>
                  <a:schemeClr val="bg1"/>
                </a:solidFill>
                <a:latin typeface="Arial" panose="020B0604020202020204" pitchFamily="34" charset="0"/>
                <a:cs typeface="Arial" panose="020B0604020202020204" pitchFamily="34" charset="0"/>
              </a:rPr>
              <a:t>Walmart Sales &amp; Customer Analysis Using SQL</a:t>
            </a:r>
            <a:endParaRPr lang="en-IN" sz="4000" b="1" dirty="0">
              <a:solidFill>
                <a:schemeClr val="bg1"/>
              </a:solidFill>
              <a:latin typeface="Arial" panose="020B0604020202020204" pitchFamily="34" charset="0"/>
              <a:cs typeface="Arial" panose="020B0604020202020204" pitchFamily="34" charset="0"/>
            </a:endParaRPr>
          </a:p>
        </p:txBody>
      </p:sp>
      <p:sp>
        <p:nvSpPr>
          <p:cNvPr id="3" name="Title 1">
            <a:extLst>
              <a:ext uri="{FF2B5EF4-FFF2-40B4-BE49-F238E27FC236}">
                <a16:creationId xmlns:a16="http://schemas.microsoft.com/office/drawing/2014/main" id="{A45C17BD-91BD-E013-9C09-BD4A52AC1EF3}"/>
              </a:ext>
            </a:extLst>
          </p:cNvPr>
          <p:cNvSpPr txBox="1">
            <a:spLocks/>
          </p:cNvSpPr>
          <p:nvPr/>
        </p:nvSpPr>
        <p:spPr>
          <a:xfrm>
            <a:off x="319087" y="2831691"/>
            <a:ext cx="5067300" cy="363893"/>
          </a:xfrm>
          <a:prstGeom prst="rect">
            <a:avLst/>
          </a:prstGeom>
        </p:spPr>
        <p:txBody>
          <a:bodyPr vert="horz" lIns="91440" tIns="45720" rIns="91440" bIns="45720" rtlCol="0" anchor="ctr">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chemeClr val="bg2"/>
                </a:solidFill>
                <a:latin typeface="Arial" panose="020B0604020202020204" pitchFamily="34" charset="0"/>
                <a:cs typeface="Arial" panose="020B0604020202020204" pitchFamily="34" charset="0"/>
              </a:rPr>
              <a:t>Data-driven Insights into Retail Performance</a:t>
            </a:r>
            <a:endParaRPr lang="en-IN" sz="4000" dirty="0">
              <a:solidFill>
                <a:schemeClr val="bg2"/>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4734241-44ED-9CA9-3168-B48AC59B360A}"/>
              </a:ext>
            </a:extLst>
          </p:cNvPr>
          <p:cNvSpPr txBox="1"/>
          <p:nvPr/>
        </p:nvSpPr>
        <p:spPr>
          <a:xfrm>
            <a:off x="319087" y="4644554"/>
            <a:ext cx="2900363" cy="646331"/>
          </a:xfrm>
          <a:prstGeom prst="rect">
            <a:avLst/>
          </a:prstGeom>
          <a:noFill/>
        </p:spPr>
        <p:txBody>
          <a:bodyPr wrap="square" rtlCol="0">
            <a:spAutoFit/>
          </a:bodyPr>
          <a:lstStyle/>
          <a:p>
            <a:r>
              <a:rPr lang="en-US" dirty="0">
                <a:solidFill>
                  <a:schemeClr val="bg1"/>
                </a:solidFill>
              </a:rPr>
              <a:t>Name : Debdatta Mukherjee</a:t>
            </a:r>
          </a:p>
          <a:p>
            <a:r>
              <a:rPr lang="en-US" dirty="0">
                <a:solidFill>
                  <a:schemeClr val="bg1"/>
                </a:solidFill>
              </a:rPr>
              <a:t>Date : October, 2025</a:t>
            </a:r>
            <a:endParaRPr lang="en-IN" dirty="0">
              <a:solidFill>
                <a:schemeClr val="bg1"/>
              </a:solidFill>
            </a:endParaRPr>
          </a:p>
        </p:txBody>
      </p:sp>
    </p:spTree>
    <p:extLst>
      <p:ext uri="{BB962C8B-B14F-4D97-AF65-F5344CB8AC3E}">
        <p14:creationId xmlns:p14="http://schemas.microsoft.com/office/powerpoint/2010/main" val="2382863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6C0BA-A816-FC19-CF95-90A3526CF56A}"/>
              </a:ext>
            </a:extLst>
          </p:cNvPr>
          <p:cNvSpPr>
            <a:spLocks noGrp="1"/>
          </p:cNvSpPr>
          <p:nvPr>
            <p:ph type="title"/>
          </p:nvPr>
        </p:nvSpPr>
        <p:spPr>
          <a:xfrm>
            <a:off x="838200" y="493712"/>
            <a:ext cx="11353800" cy="1020763"/>
          </a:xfrm>
          <a:blipFill>
            <a:blip r:embed="rId2"/>
            <a:tile tx="0" ty="0" sx="100000" sy="100000" flip="none" algn="tl"/>
          </a:blipFill>
          <a:effectLst>
            <a:outerShdw blurRad="50800" dist="38100" dir="5400000" algn="t" rotWithShape="0">
              <a:prstClr val="black">
                <a:alpha val="40000"/>
              </a:prstClr>
            </a:outerShdw>
          </a:effectLst>
        </p:spPr>
        <p:txBody>
          <a:bodyPr/>
          <a:lstStyle/>
          <a:p>
            <a:r>
              <a:rPr lang="en-US" b="1" dirty="0">
                <a:latin typeface="Arial" panose="020B0604020202020204" pitchFamily="34" charset="0"/>
                <a:cs typeface="Arial" panose="020B0604020202020204" pitchFamily="34" charset="0"/>
              </a:rPr>
              <a:t>Project Overview</a:t>
            </a:r>
            <a:endParaRPr lang="en-IN"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54AD47E9-8D88-7232-5477-ECC8602DC857}"/>
              </a:ext>
            </a:extLst>
          </p:cNvPr>
          <p:cNvSpPr txBox="1"/>
          <p:nvPr/>
        </p:nvSpPr>
        <p:spPr>
          <a:xfrm>
            <a:off x="838200" y="1943100"/>
            <a:ext cx="10515600" cy="3970318"/>
          </a:xfrm>
          <a:prstGeom prst="rect">
            <a:avLst/>
          </a:prstGeom>
          <a:noFill/>
        </p:spPr>
        <p:txBody>
          <a:bodyPr wrap="square" rtlCol="0">
            <a:spAutoFit/>
          </a:bodyPr>
          <a:lstStyle/>
          <a:p>
            <a:r>
              <a:rPr lang="en-US" sz="2800" dirty="0">
                <a:solidFill>
                  <a:srgbClr val="0070C0"/>
                </a:solidFill>
              </a:rPr>
              <a:t>Walmart is one of the world’s largest retail chains, and data plays a crucial role in understanding customer preferences, optimizing product categories, and improving profitability. This project uses transactional sales data from Walmart branches across multiple cities to extract actionable business insights using SQL.</a:t>
            </a:r>
          </a:p>
          <a:p>
            <a:endParaRPr lang="en-US" sz="2800" dirty="0"/>
          </a:p>
          <a:p>
            <a:r>
              <a:rPr lang="en-US" sz="2800" b="1" dirty="0">
                <a:solidFill>
                  <a:srgbClr val="0070C0"/>
                </a:solidFill>
              </a:rPr>
              <a:t>Goal:</a:t>
            </a:r>
          </a:p>
          <a:p>
            <a:r>
              <a:rPr lang="en-US" sz="2800" dirty="0">
                <a:solidFill>
                  <a:srgbClr val="0070C0"/>
                </a:solidFill>
              </a:rPr>
              <a:t>Analyze sales, profitability, customer satisfaction, and payment patterns to help Walmart improve operations and decision-making.</a:t>
            </a:r>
            <a:endParaRPr lang="en-IN" sz="2800" dirty="0">
              <a:solidFill>
                <a:srgbClr val="0070C0"/>
              </a:solidFill>
            </a:endParaRPr>
          </a:p>
        </p:txBody>
      </p:sp>
      <p:pic>
        <p:nvPicPr>
          <p:cNvPr id="4" name="Picture 3">
            <a:extLst>
              <a:ext uri="{FF2B5EF4-FFF2-40B4-BE49-F238E27FC236}">
                <a16:creationId xmlns:a16="http://schemas.microsoft.com/office/drawing/2014/main" id="{76717CA7-5418-B4C8-0063-F460A31F45D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79" b="89872" l="3810" r="92976">
                        <a14:foregroundMark x1="30238" y1="49709" x2="30238" y2="49709"/>
                        <a14:foregroundMark x1="24762" y1="50524" x2="24762" y2="50524"/>
                        <a14:foregroundMark x1="16667" y1="50640" x2="16667" y2="50640"/>
                        <a14:foregroundMark x1="6667" y1="48428" x2="6667" y2="48428"/>
                        <a14:foregroundMark x1="6667" y1="48428" x2="6667" y2="51804"/>
                        <a14:foregroundMark x1="3810" y1="44121" x2="3810" y2="44121"/>
                        <a14:foregroundMark x1="33810" y1="50524" x2="33810" y2="50524"/>
                        <a14:foregroundMark x1="54405" y1="49593" x2="54405" y2="49593"/>
                        <a14:foregroundMark x1="59524" y1="50524" x2="59524" y2="50524"/>
                        <a14:foregroundMark x1="65714" y1="47730" x2="65714" y2="47730"/>
                        <a14:foregroundMark x1="84762" y1="42375" x2="84762" y2="42375"/>
                        <a14:foregroundMark x1="83810" y1="41909" x2="84405" y2="44470"/>
                        <a14:foregroundMark x1="89286" y1="46799" x2="91905" y2="45867"/>
                        <a14:foregroundMark x1="89643" y1="52503" x2="92976" y2="54715"/>
                        <a14:foregroundMark x1="84405" y1="55646" x2="84405" y2="59837"/>
                        <a14:foregroundMark x1="78095" y1="53783" x2="75833" y2="54133"/>
                        <a14:foregroundMark x1="79167" y1="47497" x2="76429" y2="46100"/>
                        <a14:backgroundMark x1="53095" y1="53318" x2="53095" y2="53318"/>
                        <a14:backgroundMark x1="23333" y1="53434" x2="23333" y2="53434"/>
                      </a14:backgroundRemoval>
                    </a14:imgEffect>
                  </a14:imgLayer>
                </a14:imgProps>
              </a:ext>
              <a:ext uri="{28A0092B-C50C-407E-A947-70E740481C1C}">
                <a14:useLocalDpi xmlns:a14="http://schemas.microsoft.com/office/drawing/2010/main" val="0"/>
              </a:ext>
            </a:extLst>
          </a:blip>
          <a:stretch>
            <a:fillRect/>
          </a:stretch>
        </p:blipFill>
        <p:spPr>
          <a:xfrm>
            <a:off x="11096270" y="-175502"/>
            <a:ext cx="905230" cy="925706"/>
          </a:xfrm>
          <a:prstGeom prst="rect">
            <a:avLst/>
          </a:prstGeom>
        </p:spPr>
      </p:pic>
    </p:spTree>
    <p:extLst>
      <p:ext uri="{BB962C8B-B14F-4D97-AF65-F5344CB8AC3E}">
        <p14:creationId xmlns:p14="http://schemas.microsoft.com/office/powerpoint/2010/main" val="3585975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C690-E4DA-697B-A156-E897567BB1E7}"/>
              </a:ext>
            </a:extLst>
          </p:cNvPr>
          <p:cNvSpPr>
            <a:spLocks noGrp="1"/>
          </p:cNvSpPr>
          <p:nvPr>
            <p:ph type="title"/>
          </p:nvPr>
        </p:nvSpPr>
        <p:spPr>
          <a:xfrm>
            <a:off x="749491" y="533400"/>
            <a:ext cx="11442509" cy="885825"/>
          </a:xfrm>
          <a:blipFill>
            <a:blip r:embed="rId2"/>
            <a:tile tx="0" ty="0" sx="100000" sy="100000" flip="none" algn="tl"/>
          </a:blipFill>
          <a:effectLst>
            <a:outerShdw blurRad="50800" dist="38100" dir="5400000" algn="t" rotWithShape="0">
              <a:prstClr val="black">
                <a:alpha val="40000"/>
              </a:prstClr>
            </a:outerShdw>
          </a:effectLst>
        </p:spPr>
        <p:txBody>
          <a:bodyPr/>
          <a:lstStyle/>
          <a:p>
            <a:r>
              <a:rPr lang="en-US" b="1" dirty="0">
                <a:latin typeface="Arial" panose="020B0604020202020204" pitchFamily="34" charset="0"/>
                <a:cs typeface="Arial" panose="020B0604020202020204" pitchFamily="34" charset="0"/>
              </a:rPr>
              <a:t>Dataset Description</a:t>
            </a:r>
            <a:endParaRPr lang="en-IN"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503A18C-30AF-66CB-190A-5DCA409FAE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491" y="1785227"/>
            <a:ext cx="10693017" cy="1624965"/>
          </a:xfrm>
          <a:prstGeom prst="rect">
            <a:avLst/>
          </a:prstGeom>
        </p:spPr>
      </p:pic>
      <p:sp>
        <p:nvSpPr>
          <p:cNvPr id="5" name="TextBox 4">
            <a:extLst>
              <a:ext uri="{FF2B5EF4-FFF2-40B4-BE49-F238E27FC236}">
                <a16:creationId xmlns:a16="http://schemas.microsoft.com/office/drawing/2014/main" id="{D53C6FDB-DAED-5247-5BB9-68E128794BE9}"/>
              </a:ext>
            </a:extLst>
          </p:cNvPr>
          <p:cNvSpPr txBox="1"/>
          <p:nvPr/>
        </p:nvSpPr>
        <p:spPr>
          <a:xfrm>
            <a:off x="749491" y="3859228"/>
            <a:ext cx="5508434" cy="1384995"/>
          </a:xfrm>
          <a:prstGeom prst="rect">
            <a:avLst/>
          </a:prstGeom>
          <a:noFill/>
        </p:spPr>
        <p:txBody>
          <a:bodyPr wrap="square" rtlCol="0">
            <a:spAutoFit/>
          </a:bodyPr>
          <a:lstStyle/>
          <a:p>
            <a:r>
              <a:rPr lang="en-US" sz="2800" dirty="0">
                <a:solidFill>
                  <a:srgbClr val="0070C0"/>
                </a:solidFill>
              </a:rPr>
              <a:t>Total records: 10020</a:t>
            </a:r>
          </a:p>
          <a:p>
            <a:endParaRPr lang="en-US" sz="2800" dirty="0">
              <a:solidFill>
                <a:srgbClr val="0070C0"/>
              </a:solidFill>
            </a:endParaRPr>
          </a:p>
          <a:p>
            <a:r>
              <a:rPr lang="en-US" sz="2800" dirty="0">
                <a:solidFill>
                  <a:srgbClr val="0070C0"/>
                </a:solidFill>
              </a:rPr>
              <a:t>Dataset downloaded from KAGGLE</a:t>
            </a:r>
          </a:p>
        </p:txBody>
      </p:sp>
      <p:pic>
        <p:nvPicPr>
          <p:cNvPr id="6" name="Picture 5">
            <a:extLst>
              <a:ext uri="{FF2B5EF4-FFF2-40B4-BE49-F238E27FC236}">
                <a16:creationId xmlns:a16="http://schemas.microsoft.com/office/drawing/2014/main" id="{8FB8E68C-7DE5-D40B-157B-2E451CCBDFBE}"/>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779" b="89872" l="3810" r="92976">
                        <a14:foregroundMark x1="30238" y1="49709" x2="30238" y2="49709"/>
                        <a14:foregroundMark x1="24762" y1="50524" x2="24762" y2="50524"/>
                        <a14:foregroundMark x1="16667" y1="50640" x2="16667" y2="50640"/>
                        <a14:foregroundMark x1="6667" y1="48428" x2="6667" y2="48428"/>
                        <a14:foregroundMark x1="6667" y1="48428" x2="6667" y2="51804"/>
                        <a14:foregroundMark x1="3810" y1="44121" x2="3810" y2="44121"/>
                        <a14:foregroundMark x1="33810" y1="50524" x2="33810" y2="50524"/>
                        <a14:foregroundMark x1="54405" y1="49593" x2="54405" y2="49593"/>
                        <a14:foregroundMark x1="59524" y1="50524" x2="59524" y2="50524"/>
                        <a14:foregroundMark x1="65714" y1="47730" x2="65714" y2="47730"/>
                        <a14:foregroundMark x1="84762" y1="42375" x2="84762" y2="42375"/>
                        <a14:foregroundMark x1="83810" y1="41909" x2="84405" y2="44470"/>
                        <a14:foregroundMark x1="89286" y1="46799" x2="91905" y2="45867"/>
                        <a14:foregroundMark x1="89643" y1="52503" x2="92976" y2="54715"/>
                        <a14:foregroundMark x1="84405" y1="55646" x2="84405" y2="59837"/>
                        <a14:foregroundMark x1="78095" y1="53783" x2="75833" y2="54133"/>
                        <a14:foregroundMark x1="79167" y1="47497" x2="76429" y2="46100"/>
                        <a14:backgroundMark x1="53095" y1="53318" x2="53095" y2="53318"/>
                        <a14:backgroundMark x1="23333" y1="53434" x2="23333" y2="53434"/>
                      </a14:backgroundRemoval>
                    </a14:imgEffect>
                  </a14:imgLayer>
                </a14:imgProps>
              </a:ext>
              <a:ext uri="{28A0092B-C50C-407E-A947-70E740481C1C}">
                <a14:useLocalDpi xmlns:a14="http://schemas.microsoft.com/office/drawing/2010/main" val="0"/>
              </a:ext>
            </a:extLst>
          </a:blip>
          <a:stretch>
            <a:fillRect/>
          </a:stretch>
        </p:blipFill>
        <p:spPr>
          <a:xfrm>
            <a:off x="11096270" y="-175502"/>
            <a:ext cx="905230" cy="925706"/>
          </a:xfrm>
          <a:prstGeom prst="rect">
            <a:avLst/>
          </a:prstGeom>
        </p:spPr>
      </p:pic>
    </p:spTree>
    <p:extLst>
      <p:ext uri="{BB962C8B-B14F-4D97-AF65-F5344CB8AC3E}">
        <p14:creationId xmlns:p14="http://schemas.microsoft.com/office/powerpoint/2010/main" val="3624613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B62CD-CB11-F2FE-97F2-3AC76DCC5F73}"/>
              </a:ext>
            </a:extLst>
          </p:cNvPr>
          <p:cNvSpPr>
            <a:spLocks noGrp="1"/>
          </p:cNvSpPr>
          <p:nvPr>
            <p:ph type="title"/>
          </p:nvPr>
        </p:nvSpPr>
        <p:spPr>
          <a:xfrm>
            <a:off x="517509" y="476251"/>
            <a:ext cx="11674491" cy="733346"/>
          </a:xfrm>
          <a:blipFill>
            <a:blip r:embed="rId2"/>
            <a:tile tx="0" ty="0" sx="100000" sy="100000" flip="none" algn="tl"/>
          </a:blipFill>
          <a:effectLst>
            <a:outerShdw blurRad="50800" dist="38100" dir="5400000" algn="t" rotWithShape="0">
              <a:prstClr val="black">
                <a:alpha val="40000"/>
              </a:prstClr>
            </a:outerShdw>
          </a:effectLst>
        </p:spPr>
        <p:txBody>
          <a:bodyPr/>
          <a:lstStyle/>
          <a:p>
            <a:r>
              <a:rPr lang="en-US" b="1" dirty="0">
                <a:latin typeface="Arial" panose="020B0604020202020204" pitchFamily="34" charset="0"/>
                <a:cs typeface="Arial" panose="020B0604020202020204" pitchFamily="34" charset="0"/>
              </a:rPr>
              <a:t>Data Preparation</a:t>
            </a:r>
            <a:endParaRPr lang="en-IN"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124E9836-4CC1-1A41-9C38-CB7CBCF0F6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75" y="2148681"/>
            <a:ext cx="6667500" cy="2011680"/>
          </a:xfrm>
          <a:prstGeom prst="rect">
            <a:avLst/>
          </a:prstGeom>
        </p:spPr>
      </p:pic>
      <p:pic>
        <p:nvPicPr>
          <p:cNvPr id="6" name="Picture 5">
            <a:extLst>
              <a:ext uri="{FF2B5EF4-FFF2-40B4-BE49-F238E27FC236}">
                <a16:creationId xmlns:a16="http://schemas.microsoft.com/office/drawing/2014/main" id="{14F6D53E-7210-60E4-852A-1D5115DC2D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115" y="4733608"/>
            <a:ext cx="4648200" cy="1874520"/>
          </a:xfrm>
          <a:prstGeom prst="rect">
            <a:avLst/>
          </a:prstGeom>
        </p:spPr>
      </p:pic>
      <p:pic>
        <p:nvPicPr>
          <p:cNvPr id="8" name="Picture 7">
            <a:extLst>
              <a:ext uri="{FF2B5EF4-FFF2-40B4-BE49-F238E27FC236}">
                <a16:creationId xmlns:a16="http://schemas.microsoft.com/office/drawing/2014/main" id="{B9D9B259-8169-9B53-2801-868F68465D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10375" y="1575435"/>
            <a:ext cx="5280660" cy="5029200"/>
          </a:xfrm>
          <a:prstGeom prst="rect">
            <a:avLst/>
          </a:prstGeom>
        </p:spPr>
      </p:pic>
      <p:sp>
        <p:nvSpPr>
          <p:cNvPr id="9" name="TextBox 8">
            <a:extLst>
              <a:ext uri="{FF2B5EF4-FFF2-40B4-BE49-F238E27FC236}">
                <a16:creationId xmlns:a16="http://schemas.microsoft.com/office/drawing/2014/main" id="{7E3CE28C-3603-1411-DA2C-2E6F4E1B37B7}"/>
              </a:ext>
            </a:extLst>
          </p:cNvPr>
          <p:cNvSpPr txBox="1"/>
          <p:nvPr/>
        </p:nvSpPr>
        <p:spPr>
          <a:xfrm>
            <a:off x="142875" y="1779349"/>
            <a:ext cx="359394"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F167C39B-D1CC-B819-8D5F-F2E3A6464D13}"/>
              </a:ext>
            </a:extLst>
          </p:cNvPr>
          <p:cNvSpPr txBox="1"/>
          <p:nvPr/>
        </p:nvSpPr>
        <p:spPr>
          <a:xfrm>
            <a:off x="158115" y="4360782"/>
            <a:ext cx="359394" cy="369332"/>
          </a:xfrm>
          <a:prstGeom prst="rect">
            <a:avLst/>
          </a:prstGeom>
          <a:noFill/>
        </p:spPr>
        <p:txBody>
          <a:bodyPr wrap="none" rtlCol="0">
            <a:spAutoFit/>
          </a:bodyPr>
          <a:lstStyle/>
          <a:p>
            <a:r>
              <a:rPr lang="en-US" dirty="0"/>
              <a:t>2.</a:t>
            </a:r>
          </a:p>
        </p:txBody>
      </p:sp>
      <p:sp>
        <p:nvSpPr>
          <p:cNvPr id="15" name="TextBox 14">
            <a:extLst>
              <a:ext uri="{FF2B5EF4-FFF2-40B4-BE49-F238E27FC236}">
                <a16:creationId xmlns:a16="http://schemas.microsoft.com/office/drawing/2014/main" id="{A2193FAB-6DA4-E8CB-D2D9-736427916FE3}"/>
              </a:ext>
            </a:extLst>
          </p:cNvPr>
          <p:cNvSpPr txBox="1"/>
          <p:nvPr/>
        </p:nvSpPr>
        <p:spPr>
          <a:xfrm>
            <a:off x="6810375" y="1209596"/>
            <a:ext cx="359394" cy="369332"/>
          </a:xfrm>
          <a:prstGeom prst="rect">
            <a:avLst/>
          </a:prstGeom>
          <a:noFill/>
        </p:spPr>
        <p:txBody>
          <a:bodyPr wrap="none" rtlCol="0">
            <a:spAutoFit/>
          </a:bodyPr>
          <a:lstStyle/>
          <a:p>
            <a:r>
              <a:rPr lang="en-US" dirty="0"/>
              <a:t>3.</a:t>
            </a:r>
          </a:p>
        </p:txBody>
      </p:sp>
      <p:pic>
        <p:nvPicPr>
          <p:cNvPr id="16" name="Picture 15">
            <a:extLst>
              <a:ext uri="{FF2B5EF4-FFF2-40B4-BE49-F238E27FC236}">
                <a16:creationId xmlns:a16="http://schemas.microsoft.com/office/drawing/2014/main" id="{5DB6EE0C-ADEF-9BF6-B810-E1B8635125C4}"/>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9779" b="89872" l="3810" r="92976">
                        <a14:foregroundMark x1="30238" y1="49709" x2="30238" y2="49709"/>
                        <a14:foregroundMark x1="24762" y1="50524" x2="24762" y2="50524"/>
                        <a14:foregroundMark x1="16667" y1="50640" x2="16667" y2="50640"/>
                        <a14:foregroundMark x1="6667" y1="48428" x2="6667" y2="48428"/>
                        <a14:foregroundMark x1="6667" y1="48428" x2="6667" y2="51804"/>
                        <a14:foregroundMark x1="3810" y1="44121" x2="3810" y2="44121"/>
                        <a14:foregroundMark x1="33810" y1="50524" x2="33810" y2="50524"/>
                        <a14:foregroundMark x1="54405" y1="49593" x2="54405" y2="49593"/>
                        <a14:foregroundMark x1="59524" y1="50524" x2="59524" y2="50524"/>
                        <a14:foregroundMark x1="65714" y1="47730" x2="65714" y2="47730"/>
                        <a14:foregroundMark x1="84762" y1="42375" x2="84762" y2="42375"/>
                        <a14:foregroundMark x1="83810" y1="41909" x2="84405" y2="44470"/>
                        <a14:foregroundMark x1="89286" y1="46799" x2="91905" y2="45867"/>
                        <a14:foregroundMark x1="89643" y1="52503" x2="92976" y2="54715"/>
                        <a14:foregroundMark x1="84405" y1="55646" x2="84405" y2="59837"/>
                        <a14:foregroundMark x1="78095" y1="53783" x2="75833" y2="54133"/>
                        <a14:foregroundMark x1="79167" y1="47497" x2="76429" y2="46100"/>
                        <a14:backgroundMark x1="53095" y1="53318" x2="53095" y2="53318"/>
                        <a14:backgroundMark x1="23333" y1="53434" x2="23333" y2="53434"/>
                      </a14:backgroundRemoval>
                    </a14:imgEffect>
                  </a14:imgLayer>
                </a14:imgProps>
              </a:ext>
              <a:ext uri="{28A0092B-C50C-407E-A947-70E740481C1C}">
                <a14:useLocalDpi xmlns:a14="http://schemas.microsoft.com/office/drawing/2010/main" val="0"/>
              </a:ext>
            </a:extLst>
          </a:blip>
          <a:stretch>
            <a:fillRect/>
          </a:stretch>
        </p:blipFill>
        <p:spPr>
          <a:xfrm>
            <a:off x="11096270" y="-175502"/>
            <a:ext cx="905230" cy="925706"/>
          </a:xfrm>
          <a:prstGeom prst="rect">
            <a:avLst/>
          </a:prstGeom>
        </p:spPr>
      </p:pic>
    </p:spTree>
    <p:extLst>
      <p:ext uri="{BB962C8B-B14F-4D97-AF65-F5344CB8AC3E}">
        <p14:creationId xmlns:p14="http://schemas.microsoft.com/office/powerpoint/2010/main" val="1001717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A27BE-F280-590C-CE6E-D94DD3C0A8DD}"/>
              </a:ext>
            </a:extLst>
          </p:cNvPr>
          <p:cNvSpPr>
            <a:spLocks noGrp="1"/>
          </p:cNvSpPr>
          <p:nvPr>
            <p:ph type="title"/>
          </p:nvPr>
        </p:nvSpPr>
        <p:spPr>
          <a:xfrm>
            <a:off x="440531" y="492890"/>
            <a:ext cx="11751469" cy="901700"/>
          </a:xfrm>
          <a:blipFill>
            <a:blip r:embed="rId2"/>
            <a:tile tx="0" ty="0" sx="100000" sy="100000" flip="none" algn="tl"/>
          </a:blipFill>
          <a:effectLst>
            <a:outerShdw blurRad="50800" dist="38100" dir="5400000" algn="t" rotWithShape="0">
              <a:prstClr val="black">
                <a:alpha val="40000"/>
              </a:prstClr>
            </a:outerShdw>
          </a:effectLst>
        </p:spPr>
        <p:txBody>
          <a:bodyPr>
            <a:noAutofit/>
          </a:bodyPr>
          <a:lstStyle/>
          <a:p>
            <a:r>
              <a:rPr lang="en-US" sz="4800" b="1" dirty="0">
                <a:latin typeface="Arial" panose="020B0604020202020204" pitchFamily="34" charset="0"/>
                <a:cs typeface="Arial" panose="020B0604020202020204" pitchFamily="34" charset="0"/>
              </a:rPr>
              <a:t>Business Objectives</a:t>
            </a:r>
            <a:endParaRPr lang="en-IN" sz="4800"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9C95B72-B5E7-872D-F2D6-11792033889D}"/>
              </a:ext>
            </a:extLst>
          </p:cNvPr>
          <p:cNvSpPr txBox="1"/>
          <p:nvPr/>
        </p:nvSpPr>
        <p:spPr>
          <a:xfrm>
            <a:off x="440531" y="2062982"/>
            <a:ext cx="11751469" cy="3754874"/>
          </a:xfrm>
          <a:prstGeom prst="rect">
            <a:avLst/>
          </a:prstGeom>
          <a:noFill/>
        </p:spPr>
        <p:txBody>
          <a:bodyPr wrap="square" rtlCol="0">
            <a:spAutoFit/>
          </a:bodyPr>
          <a:lstStyle/>
          <a:p>
            <a:pPr marL="342900" indent="-342900">
              <a:buFont typeface="+mj-lt"/>
              <a:buAutoNum type="arabicPeriod"/>
            </a:pPr>
            <a:r>
              <a:rPr lang="en-US" sz="3400" dirty="0">
                <a:solidFill>
                  <a:srgbClr val="0070C0"/>
                </a:solidFill>
              </a:rPr>
              <a:t>Understand sales performance by branch, city, and category.</a:t>
            </a:r>
          </a:p>
          <a:p>
            <a:pPr marL="342900" indent="-342900">
              <a:buFont typeface="+mj-lt"/>
              <a:buAutoNum type="arabicPeriod"/>
            </a:pPr>
            <a:r>
              <a:rPr lang="en-US" sz="3400" dirty="0">
                <a:solidFill>
                  <a:srgbClr val="0070C0"/>
                </a:solidFill>
              </a:rPr>
              <a:t>Identify time-based sales patterns (daily, monthly, hourly).</a:t>
            </a:r>
          </a:p>
          <a:p>
            <a:pPr marL="342900" indent="-342900">
              <a:buFont typeface="+mj-lt"/>
              <a:buAutoNum type="arabicPeriod"/>
            </a:pPr>
            <a:r>
              <a:rPr lang="en-US" sz="3400" dirty="0">
                <a:solidFill>
                  <a:srgbClr val="0070C0"/>
                </a:solidFill>
              </a:rPr>
              <a:t>Evaluate payment preferences and profitability.</a:t>
            </a:r>
          </a:p>
          <a:p>
            <a:pPr marL="342900" indent="-342900">
              <a:buFont typeface="+mj-lt"/>
              <a:buAutoNum type="arabicPeriod"/>
            </a:pPr>
            <a:r>
              <a:rPr lang="en-US" sz="3400" dirty="0">
                <a:solidFill>
                  <a:srgbClr val="0070C0"/>
                </a:solidFill>
              </a:rPr>
              <a:t>Analyze customer satisfaction trends and factors influencing ratings.</a:t>
            </a:r>
          </a:p>
          <a:p>
            <a:pPr marL="342900" indent="-342900">
              <a:buFont typeface="+mj-lt"/>
              <a:buAutoNum type="arabicPeriod"/>
            </a:pPr>
            <a:r>
              <a:rPr lang="en-US" sz="3400" dirty="0">
                <a:solidFill>
                  <a:srgbClr val="0070C0"/>
                </a:solidFill>
              </a:rPr>
              <a:t>Provide data-driven recommendations for business optimization.</a:t>
            </a:r>
            <a:endParaRPr lang="en-IN" sz="3400" dirty="0">
              <a:solidFill>
                <a:srgbClr val="0070C0"/>
              </a:solidFill>
            </a:endParaRPr>
          </a:p>
        </p:txBody>
      </p:sp>
      <p:pic>
        <p:nvPicPr>
          <p:cNvPr id="5" name="Picture 4">
            <a:extLst>
              <a:ext uri="{FF2B5EF4-FFF2-40B4-BE49-F238E27FC236}">
                <a16:creationId xmlns:a16="http://schemas.microsoft.com/office/drawing/2014/main" id="{EF6EDAF1-C9AB-D9C8-AA3F-EC18BEC96F1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79" b="89872" l="3810" r="92976">
                        <a14:foregroundMark x1="30238" y1="49709" x2="30238" y2="49709"/>
                        <a14:foregroundMark x1="24762" y1="50524" x2="24762" y2="50524"/>
                        <a14:foregroundMark x1="16667" y1="50640" x2="16667" y2="50640"/>
                        <a14:foregroundMark x1="6667" y1="48428" x2="6667" y2="48428"/>
                        <a14:foregroundMark x1="6667" y1="48428" x2="6667" y2="51804"/>
                        <a14:foregroundMark x1="3810" y1="44121" x2="3810" y2="44121"/>
                        <a14:foregroundMark x1="33810" y1="50524" x2="33810" y2="50524"/>
                        <a14:foregroundMark x1="54405" y1="49593" x2="54405" y2="49593"/>
                        <a14:foregroundMark x1="59524" y1="50524" x2="59524" y2="50524"/>
                        <a14:foregroundMark x1="65714" y1="47730" x2="65714" y2="47730"/>
                        <a14:foregroundMark x1="84762" y1="42375" x2="84762" y2="42375"/>
                        <a14:foregroundMark x1="83810" y1="41909" x2="84405" y2="44470"/>
                        <a14:foregroundMark x1="89286" y1="46799" x2="91905" y2="45867"/>
                        <a14:foregroundMark x1="89643" y1="52503" x2="92976" y2="54715"/>
                        <a14:foregroundMark x1="84405" y1="55646" x2="84405" y2="59837"/>
                        <a14:foregroundMark x1="78095" y1="53783" x2="75833" y2="54133"/>
                        <a14:foregroundMark x1="79167" y1="47497" x2="76429" y2="46100"/>
                        <a14:backgroundMark x1="53095" y1="53318" x2="53095" y2="53318"/>
                        <a14:backgroundMark x1="23333" y1="53434" x2="23333" y2="53434"/>
                      </a14:backgroundRemoval>
                    </a14:imgEffect>
                  </a14:imgLayer>
                </a14:imgProps>
              </a:ext>
              <a:ext uri="{28A0092B-C50C-407E-A947-70E740481C1C}">
                <a14:useLocalDpi xmlns:a14="http://schemas.microsoft.com/office/drawing/2010/main" val="0"/>
              </a:ext>
            </a:extLst>
          </a:blip>
          <a:stretch>
            <a:fillRect/>
          </a:stretch>
        </p:blipFill>
        <p:spPr>
          <a:xfrm>
            <a:off x="11096270" y="-175502"/>
            <a:ext cx="905230" cy="925706"/>
          </a:xfrm>
          <a:prstGeom prst="rect">
            <a:avLst/>
          </a:prstGeom>
        </p:spPr>
      </p:pic>
    </p:spTree>
    <p:extLst>
      <p:ext uri="{BB962C8B-B14F-4D97-AF65-F5344CB8AC3E}">
        <p14:creationId xmlns:p14="http://schemas.microsoft.com/office/powerpoint/2010/main" val="1063963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C82FD-D39F-9F1A-95C0-268318C8CA4D}"/>
              </a:ext>
            </a:extLst>
          </p:cNvPr>
          <p:cNvSpPr>
            <a:spLocks noGrp="1"/>
          </p:cNvSpPr>
          <p:nvPr>
            <p:ph type="title"/>
          </p:nvPr>
        </p:nvSpPr>
        <p:spPr>
          <a:xfrm>
            <a:off x="421004" y="452674"/>
            <a:ext cx="11770996" cy="601852"/>
          </a:xfrm>
          <a:blipFill>
            <a:blip r:embed="rId2"/>
            <a:tile tx="0" ty="0" sx="100000" sy="100000" flip="none" algn="tl"/>
          </a:blipFill>
          <a:effectLst>
            <a:outerShdw blurRad="50800" dist="38100" dir="5400000" algn="t" rotWithShape="0">
              <a:prstClr val="black">
                <a:alpha val="40000"/>
              </a:prstClr>
            </a:outerShdw>
          </a:effectLst>
        </p:spPr>
        <p:txBody>
          <a:bodyPr>
            <a:normAutofit fontScale="90000"/>
          </a:bodyPr>
          <a:lstStyle/>
          <a:p>
            <a:r>
              <a:rPr lang="en-IN" b="1" dirty="0">
                <a:latin typeface="Arial" panose="020B0604020202020204" pitchFamily="34" charset="0"/>
                <a:cs typeface="Arial" panose="020B0604020202020204" pitchFamily="34" charset="0"/>
              </a:rPr>
              <a:t>Sales Performance Analysis</a:t>
            </a:r>
          </a:p>
        </p:txBody>
      </p:sp>
      <p:sp>
        <p:nvSpPr>
          <p:cNvPr id="3" name="TextBox 2">
            <a:extLst>
              <a:ext uri="{FF2B5EF4-FFF2-40B4-BE49-F238E27FC236}">
                <a16:creationId xmlns:a16="http://schemas.microsoft.com/office/drawing/2014/main" id="{0766AB7E-6C84-F622-CE3E-5310C0F6332D}"/>
              </a:ext>
            </a:extLst>
          </p:cNvPr>
          <p:cNvSpPr txBox="1"/>
          <p:nvPr/>
        </p:nvSpPr>
        <p:spPr>
          <a:xfrm>
            <a:off x="80962" y="1219200"/>
            <a:ext cx="5862638" cy="369332"/>
          </a:xfrm>
          <a:prstGeom prst="rect">
            <a:avLst/>
          </a:prstGeom>
          <a:noFill/>
        </p:spPr>
        <p:txBody>
          <a:bodyPr wrap="square" rtlCol="0">
            <a:spAutoFit/>
          </a:bodyPr>
          <a:lstStyle/>
          <a:p>
            <a:r>
              <a:rPr lang="en-US" dirty="0">
                <a:solidFill>
                  <a:srgbClr val="0070C0"/>
                </a:solidFill>
              </a:rPr>
              <a:t>1. What is the total sales revenue generated by each branch?</a:t>
            </a:r>
            <a:endParaRPr lang="en-IN" dirty="0">
              <a:solidFill>
                <a:srgbClr val="0070C0"/>
              </a:solidFill>
            </a:endParaRPr>
          </a:p>
        </p:txBody>
      </p:sp>
      <p:pic>
        <p:nvPicPr>
          <p:cNvPr id="6" name="Picture 5">
            <a:extLst>
              <a:ext uri="{FF2B5EF4-FFF2-40B4-BE49-F238E27FC236}">
                <a16:creationId xmlns:a16="http://schemas.microsoft.com/office/drawing/2014/main" id="{9C670A91-4411-9B0E-C3CD-A2B9E850A3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62" y="1740931"/>
            <a:ext cx="6454140" cy="1120140"/>
          </a:xfrm>
          <a:prstGeom prst="rect">
            <a:avLst/>
          </a:prstGeom>
        </p:spPr>
      </p:pic>
      <p:sp>
        <p:nvSpPr>
          <p:cNvPr id="7" name="TextBox 6">
            <a:extLst>
              <a:ext uri="{FF2B5EF4-FFF2-40B4-BE49-F238E27FC236}">
                <a16:creationId xmlns:a16="http://schemas.microsoft.com/office/drawing/2014/main" id="{9D4279C5-A6E3-CC34-BFAA-D56084BBEB77}"/>
              </a:ext>
            </a:extLst>
          </p:cNvPr>
          <p:cNvSpPr txBox="1"/>
          <p:nvPr/>
        </p:nvSpPr>
        <p:spPr>
          <a:xfrm>
            <a:off x="6272212" y="1219200"/>
            <a:ext cx="6034088" cy="369332"/>
          </a:xfrm>
          <a:prstGeom prst="rect">
            <a:avLst/>
          </a:prstGeom>
          <a:noFill/>
        </p:spPr>
        <p:txBody>
          <a:bodyPr wrap="square" rtlCol="0">
            <a:spAutoFit/>
          </a:bodyPr>
          <a:lstStyle/>
          <a:p>
            <a:r>
              <a:rPr lang="en-US" dirty="0">
                <a:solidFill>
                  <a:srgbClr val="0070C0"/>
                </a:solidFill>
              </a:rPr>
              <a:t>2.Which product category contributes the highest total sales?</a:t>
            </a:r>
            <a:endParaRPr lang="en-IN" dirty="0">
              <a:solidFill>
                <a:srgbClr val="0070C0"/>
              </a:solidFill>
            </a:endParaRPr>
          </a:p>
        </p:txBody>
      </p:sp>
      <p:pic>
        <p:nvPicPr>
          <p:cNvPr id="9" name="Picture 8">
            <a:extLst>
              <a:ext uri="{FF2B5EF4-FFF2-40B4-BE49-F238E27FC236}">
                <a16:creationId xmlns:a16="http://schemas.microsoft.com/office/drawing/2014/main" id="{77A74AB8-EE36-C0BA-E1BA-63CEAE7F5C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0004" y="1740931"/>
            <a:ext cx="3139440" cy="1889760"/>
          </a:xfrm>
          <a:prstGeom prst="rect">
            <a:avLst/>
          </a:prstGeom>
        </p:spPr>
      </p:pic>
      <p:sp>
        <p:nvSpPr>
          <p:cNvPr id="10" name="TextBox 9">
            <a:extLst>
              <a:ext uri="{FF2B5EF4-FFF2-40B4-BE49-F238E27FC236}">
                <a16:creationId xmlns:a16="http://schemas.microsoft.com/office/drawing/2014/main" id="{51A2BA2F-F9DA-410D-B63C-AEEC39C7421F}"/>
              </a:ext>
            </a:extLst>
          </p:cNvPr>
          <p:cNvSpPr txBox="1"/>
          <p:nvPr/>
        </p:nvSpPr>
        <p:spPr>
          <a:xfrm>
            <a:off x="80962" y="3059668"/>
            <a:ext cx="6191250" cy="369332"/>
          </a:xfrm>
          <a:prstGeom prst="rect">
            <a:avLst/>
          </a:prstGeom>
          <a:noFill/>
        </p:spPr>
        <p:txBody>
          <a:bodyPr wrap="square" rtlCol="0">
            <a:spAutoFit/>
          </a:bodyPr>
          <a:lstStyle/>
          <a:p>
            <a:r>
              <a:rPr lang="en-US" dirty="0">
                <a:solidFill>
                  <a:srgbClr val="0070C0"/>
                </a:solidFill>
              </a:rPr>
              <a:t>3. What are the top 10 highest-value invoices (by total amount)?</a:t>
            </a:r>
            <a:endParaRPr lang="en-IN" dirty="0">
              <a:solidFill>
                <a:srgbClr val="0070C0"/>
              </a:solidFill>
            </a:endParaRPr>
          </a:p>
        </p:txBody>
      </p:sp>
      <p:pic>
        <p:nvPicPr>
          <p:cNvPr id="12" name="Picture 11">
            <a:extLst>
              <a:ext uri="{FF2B5EF4-FFF2-40B4-BE49-F238E27FC236}">
                <a16:creationId xmlns:a16="http://schemas.microsoft.com/office/drawing/2014/main" id="{B41FB841-713B-43C0-428A-9B3AAB694F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962" y="3627597"/>
            <a:ext cx="6979920" cy="1356360"/>
          </a:xfrm>
          <a:prstGeom prst="rect">
            <a:avLst/>
          </a:prstGeom>
        </p:spPr>
      </p:pic>
      <p:sp>
        <p:nvSpPr>
          <p:cNvPr id="13" name="TextBox 12">
            <a:extLst>
              <a:ext uri="{FF2B5EF4-FFF2-40B4-BE49-F238E27FC236}">
                <a16:creationId xmlns:a16="http://schemas.microsoft.com/office/drawing/2014/main" id="{0DAB1EEC-4784-EB77-4EC4-AF98F2104BB5}"/>
              </a:ext>
            </a:extLst>
          </p:cNvPr>
          <p:cNvSpPr txBox="1"/>
          <p:nvPr/>
        </p:nvSpPr>
        <p:spPr>
          <a:xfrm>
            <a:off x="6272211" y="4305777"/>
            <a:ext cx="4900613" cy="646331"/>
          </a:xfrm>
          <a:prstGeom prst="rect">
            <a:avLst/>
          </a:prstGeom>
          <a:noFill/>
        </p:spPr>
        <p:txBody>
          <a:bodyPr wrap="square" rtlCol="0">
            <a:spAutoFit/>
          </a:bodyPr>
          <a:lstStyle/>
          <a:p>
            <a:r>
              <a:rPr lang="en-US" dirty="0">
                <a:solidFill>
                  <a:srgbClr val="0070C0"/>
                </a:solidFill>
              </a:rPr>
              <a:t>4. Which city has the highest total revenue?</a:t>
            </a:r>
          </a:p>
          <a:p>
            <a:r>
              <a:rPr lang="en-US" dirty="0"/>
              <a:t>--Weslaco has the highest revenue of $46644.79</a:t>
            </a:r>
            <a:endParaRPr lang="en-IN" dirty="0"/>
          </a:p>
        </p:txBody>
      </p:sp>
      <p:sp>
        <p:nvSpPr>
          <p:cNvPr id="15" name="TextBox 14">
            <a:extLst>
              <a:ext uri="{FF2B5EF4-FFF2-40B4-BE49-F238E27FC236}">
                <a16:creationId xmlns:a16="http://schemas.microsoft.com/office/drawing/2014/main" id="{33E471D1-D6DD-19E8-6229-E7A492A52A05}"/>
              </a:ext>
            </a:extLst>
          </p:cNvPr>
          <p:cNvSpPr txBox="1"/>
          <p:nvPr/>
        </p:nvSpPr>
        <p:spPr>
          <a:xfrm>
            <a:off x="80961" y="5182554"/>
            <a:ext cx="6191250" cy="369332"/>
          </a:xfrm>
          <a:prstGeom prst="rect">
            <a:avLst/>
          </a:prstGeom>
          <a:noFill/>
        </p:spPr>
        <p:txBody>
          <a:bodyPr wrap="square" rtlCol="0">
            <a:spAutoFit/>
          </a:bodyPr>
          <a:lstStyle/>
          <a:p>
            <a:r>
              <a:rPr lang="en-US" dirty="0">
                <a:solidFill>
                  <a:srgbClr val="0070C0"/>
                </a:solidFill>
              </a:rPr>
              <a:t>5. What is the average unit price and quantity sold per branch?</a:t>
            </a:r>
            <a:endParaRPr lang="en-IN" dirty="0">
              <a:solidFill>
                <a:srgbClr val="0070C0"/>
              </a:solidFill>
            </a:endParaRPr>
          </a:p>
        </p:txBody>
      </p:sp>
      <p:pic>
        <p:nvPicPr>
          <p:cNvPr id="17" name="Picture 16">
            <a:extLst>
              <a:ext uri="{FF2B5EF4-FFF2-40B4-BE49-F238E27FC236}">
                <a16:creationId xmlns:a16="http://schemas.microsoft.com/office/drawing/2014/main" id="{78817BCB-AFC8-293D-4EB9-6C598E92FA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961" y="5750483"/>
            <a:ext cx="9837420" cy="883920"/>
          </a:xfrm>
          <a:prstGeom prst="rect">
            <a:avLst/>
          </a:prstGeom>
        </p:spPr>
      </p:pic>
      <p:pic>
        <p:nvPicPr>
          <p:cNvPr id="18" name="Picture 17">
            <a:extLst>
              <a:ext uri="{FF2B5EF4-FFF2-40B4-BE49-F238E27FC236}">
                <a16:creationId xmlns:a16="http://schemas.microsoft.com/office/drawing/2014/main" id="{B211EB1E-85C3-BE78-611D-7322E1665319}"/>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779" b="89872" l="3810" r="92976">
                        <a14:foregroundMark x1="30238" y1="49709" x2="30238" y2="49709"/>
                        <a14:foregroundMark x1="24762" y1="50524" x2="24762" y2="50524"/>
                        <a14:foregroundMark x1="16667" y1="50640" x2="16667" y2="50640"/>
                        <a14:foregroundMark x1="6667" y1="48428" x2="6667" y2="48428"/>
                        <a14:foregroundMark x1="6667" y1="48428" x2="6667" y2="51804"/>
                        <a14:foregroundMark x1="3810" y1="44121" x2="3810" y2="44121"/>
                        <a14:foregroundMark x1="33810" y1="50524" x2="33810" y2="50524"/>
                        <a14:foregroundMark x1="54405" y1="49593" x2="54405" y2="49593"/>
                        <a14:foregroundMark x1="59524" y1="50524" x2="59524" y2="50524"/>
                        <a14:foregroundMark x1="65714" y1="47730" x2="65714" y2="47730"/>
                        <a14:foregroundMark x1="84762" y1="42375" x2="84762" y2="42375"/>
                        <a14:foregroundMark x1="83810" y1="41909" x2="84405" y2="44470"/>
                        <a14:foregroundMark x1="89286" y1="46799" x2="91905" y2="45867"/>
                        <a14:foregroundMark x1="89643" y1="52503" x2="92976" y2="54715"/>
                        <a14:foregroundMark x1="84405" y1="55646" x2="84405" y2="59837"/>
                        <a14:foregroundMark x1="78095" y1="53783" x2="75833" y2="54133"/>
                        <a14:foregroundMark x1="79167" y1="47497" x2="76429" y2="46100"/>
                        <a14:backgroundMark x1="53095" y1="53318" x2="53095" y2="53318"/>
                        <a14:backgroundMark x1="23333" y1="53434" x2="23333" y2="53434"/>
                      </a14:backgroundRemoval>
                    </a14:imgEffect>
                  </a14:imgLayer>
                </a14:imgProps>
              </a:ext>
              <a:ext uri="{28A0092B-C50C-407E-A947-70E740481C1C}">
                <a14:useLocalDpi xmlns:a14="http://schemas.microsoft.com/office/drawing/2010/main" val="0"/>
              </a:ext>
            </a:extLst>
          </a:blip>
          <a:stretch>
            <a:fillRect/>
          </a:stretch>
        </p:blipFill>
        <p:spPr>
          <a:xfrm>
            <a:off x="11096270" y="-175502"/>
            <a:ext cx="905230" cy="925706"/>
          </a:xfrm>
          <a:prstGeom prst="rect">
            <a:avLst/>
          </a:prstGeom>
        </p:spPr>
      </p:pic>
    </p:spTree>
    <p:extLst>
      <p:ext uri="{BB962C8B-B14F-4D97-AF65-F5344CB8AC3E}">
        <p14:creationId xmlns:p14="http://schemas.microsoft.com/office/powerpoint/2010/main" val="1869341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442B6-73EC-2093-D959-B596D260D514}"/>
              </a:ext>
            </a:extLst>
          </p:cNvPr>
          <p:cNvSpPr>
            <a:spLocks noGrp="1"/>
          </p:cNvSpPr>
          <p:nvPr>
            <p:ph type="title"/>
          </p:nvPr>
        </p:nvSpPr>
        <p:spPr>
          <a:xfrm>
            <a:off x="400050" y="468470"/>
            <a:ext cx="11791950" cy="698311"/>
          </a:xfrm>
          <a:blipFill>
            <a:blip r:embed="rId2"/>
            <a:tile tx="0" ty="0" sx="100000" sy="100000" flip="none" algn="tl"/>
          </a:blipFill>
          <a:effectLst>
            <a:outerShdw blurRad="50800" dist="38100" dir="5400000" algn="t" rotWithShape="0">
              <a:prstClr val="black">
                <a:alpha val="40000"/>
              </a:prstClr>
            </a:outerShdw>
          </a:effectLst>
        </p:spPr>
        <p:txBody>
          <a:bodyPr/>
          <a:lstStyle/>
          <a:p>
            <a:r>
              <a:rPr lang="en-US" b="1" dirty="0">
                <a:latin typeface="Arial" panose="020B0604020202020204" pitchFamily="34" charset="0"/>
                <a:cs typeface="Arial" panose="020B0604020202020204" pitchFamily="34" charset="0"/>
              </a:rPr>
              <a:t>Time-based Analysis</a:t>
            </a:r>
            <a:endParaRPr lang="en-IN"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503C986-BF68-0FC3-5C78-EA0A6C82E030}"/>
              </a:ext>
            </a:extLst>
          </p:cNvPr>
          <p:cNvSpPr txBox="1"/>
          <p:nvPr/>
        </p:nvSpPr>
        <p:spPr>
          <a:xfrm>
            <a:off x="104775" y="1414463"/>
            <a:ext cx="5114925" cy="369332"/>
          </a:xfrm>
          <a:prstGeom prst="rect">
            <a:avLst/>
          </a:prstGeom>
          <a:noFill/>
        </p:spPr>
        <p:txBody>
          <a:bodyPr wrap="square" rtlCol="0">
            <a:spAutoFit/>
          </a:bodyPr>
          <a:lstStyle/>
          <a:p>
            <a:r>
              <a:rPr lang="en-US" dirty="0">
                <a:solidFill>
                  <a:srgbClr val="0070C0"/>
                </a:solidFill>
              </a:rPr>
              <a:t>1. What are the total daily and monthly sales trends?</a:t>
            </a:r>
            <a:endParaRPr lang="en-IN" dirty="0">
              <a:solidFill>
                <a:srgbClr val="0070C0"/>
              </a:solidFill>
            </a:endParaRPr>
          </a:p>
        </p:txBody>
      </p:sp>
      <p:pic>
        <p:nvPicPr>
          <p:cNvPr id="5" name="Picture 4">
            <a:extLst>
              <a:ext uri="{FF2B5EF4-FFF2-40B4-BE49-F238E27FC236}">
                <a16:creationId xmlns:a16="http://schemas.microsoft.com/office/drawing/2014/main" id="{CB0A4D77-63B0-67DF-D772-CE48376ED1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7455" y="1926907"/>
            <a:ext cx="2362200" cy="3436620"/>
          </a:xfrm>
          <a:prstGeom prst="rect">
            <a:avLst/>
          </a:prstGeom>
        </p:spPr>
      </p:pic>
      <p:pic>
        <p:nvPicPr>
          <p:cNvPr id="7" name="Picture 6">
            <a:extLst>
              <a:ext uri="{FF2B5EF4-FFF2-40B4-BE49-F238E27FC236}">
                <a16:creationId xmlns:a16="http://schemas.microsoft.com/office/drawing/2014/main" id="{7AE378B2-50A1-6544-FF37-4D13208231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75" y="1926907"/>
            <a:ext cx="2392680" cy="3451860"/>
          </a:xfrm>
          <a:prstGeom prst="rect">
            <a:avLst/>
          </a:prstGeom>
        </p:spPr>
      </p:pic>
      <p:sp>
        <p:nvSpPr>
          <p:cNvPr id="8" name="TextBox 7">
            <a:extLst>
              <a:ext uri="{FF2B5EF4-FFF2-40B4-BE49-F238E27FC236}">
                <a16:creationId xmlns:a16="http://schemas.microsoft.com/office/drawing/2014/main" id="{84A90BC0-60D2-5B81-2F94-0C5DCF68ABE9}"/>
              </a:ext>
            </a:extLst>
          </p:cNvPr>
          <p:cNvSpPr txBox="1"/>
          <p:nvPr/>
        </p:nvSpPr>
        <p:spPr>
          <a:xfrm>
            <a:off x="6096000" y="1414463"/>
            <a:ext cx="5829300" cy="369332"/>
          </a:xfrm>
          <a:prstGeom prst="rect">
            <a:avLst/>
          </a:prstGeom>
          <a:noFill/>
        </p:spPr>
        <p:txBody>
          <a:bodyPr wrap="square" rtlCol="0">
            <a:spAutoFit/>
          </a:bodyPr>
          <a:lstStyle/>
          <a:p>
            <a:r>
              <a:rPr lang="en-US" dirty="0">
                <a:solidFill>
                  <a:srgbClr val="0070C0"/>
                </a:solidFill>
              </a:rPr>
              <a:t>3. During which hour of the day do most transactions occur?</a:t>
            </a:r>
            <a:endParaRPr lang="en-IN" dirty="0">
              <a:solidFill>
                <a:srgbClr val="0070C0"/>
              </a:solidFill>
            </a:endParaRPr>
          </a:p>
        </p:txBody>
      </p:sp>
      <p:pic>
        <p:nvPicPr>
          <p:cNvPr id="10" name="Picture 9">
            <a:extLst>
              <a:ext uri="{FF2B5EF4-FFF2-40B4-BE49-F238E27FC236}">
                <a16:creationId xmlns:a16="http://schemas.microsoft.com/office/drawing/2014/main" id="{0A9C6D20-9859-87A1-7035-CEA1BEFA51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1926907"/>
            <a:ext cx="5143500" cy="1066204"/>
          </a:xfrm>
          <a:prstGeom prst="rect">
            <a:avLst/>
          </a:prstGeom>
        </p:spPr>
      </p:pic>
      <p:sp>
        <p:nvSpPr>
          <p:cNvPr id="11" name="TextBox 10">
            <a:extLst>
              <a:ext uri="{FF2B5EF4-FFF2-40B4-BE49-F238E27FC236}">
                <a16:creationId xmlns:a16="http://schemas.microsoft.com/office/drawing/2014/main" id="{BC351557-4043-D519-E61C-09F7B737115A}"/>
              </a:ext>
            </a:extLst>
          </p:cNvPr>
          <p:cNvSpPr txBox="1"/>
          <p:nvPr/>
        </p:nvSpPr>
        <p:spPr>
          <a:xfrm>
            <a:off x="6096000" y="3136223"/>
            <a:ext cx="5829300" cy="369332"/>
          </a:xfrm>
          <a:prstGeom prst="rect">
            <a:avLst/>
          </a:prstGeom>
          <a:noFill/>
        </p:spPr>
        <p:txBody>
          <a:bodyPr wrap="square" rtlCol="0">
            <a:spAutoFit/>
          </a:bodyPr>
          <a:lstStyle/>
          <a:p>
            <a:r>
              <a:rPr lang="en-US" dirty="0">
                <a:solidFill>
                  <a:srgbClr val="0070C0"/>
                </a:solidFill>
              </a:rPr>
              <a:t>4. During which hour of the day do most transactions occur?</a:t>
            </a:r>
            <a:endParaRPr lang="en-IN" dirty="0">
              <a:solidFill>
                <a:srgbClr val="0070C0"/>
              </a:solidFill>
            </a:endParaRPr>
          </a:p>
        </p:txBody>
      </p:sp>
      <p:pic>
        <p:nvPicPr>
          <p:cNvPr id="13" name="Picture 12">
            <a:extLst>
              <a:ext uri="{FF2B5EF4-FFF2-40B4-BE49-F238E27FC236}">
                <a16:creationId xmlns:a16="http://schemas.microsoft.com/office/drawing/2014/main" id="{5217AAC5-E7E0-82EC-3A6D-9555817918E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3648667"/>
            <a:ext cx="5097780" cy="963057"/>
          </a:xfrm>
          <a:prstGeom prst="rect">
            <a:avLst/>
          </a:prstGeom>
        </p:spPr>
      </p:pic>
      <p:sp>
        <p:nvSpPr>
          <p:cNvPr id="14" name="TextBox 13">
            <a:extLst>
              <a:ext uri="{FF2B5EF4-FFF2-40B4-BE49-F238E27FC236}">
                <a16:creationId xmlns:a16="http://schemas.microsoft.com/office/drawing/2014/main" id="{471BE7E4-9093-EF71-734E-A800E8005064}"/>
              </a:ext>
            </a:extLst>
          </p:cNvPr>
          <p:cNvSpPr txBox="1"/>
          <p:nvPr/>
        </p:nvSpPr>
        <p:spPr>
          <a:xfrm>
            <a:off x="6096000" y="4754836"/>
            <a:ext cx="5829300" cy="369332"/>
          </a:xfrm>
          <a:prstGeom prst="rect">
            <a:avLst/>
          </a:prstGeom>
          <a:noFill/>
        </p:spPr>
        <p:txBody>
          <a:bodyPr wrap="square" rtlCol="0">
            <a:spAutoFit/>
          </a:bodyPr>
          <a:lstStyle/>
          <a:p>
            <a:r>
              <a:rPr lang="en-US" dirty="0">
                <a:solidFill>
                  <a:srgbClr val="0070C0"/>
                </a:solidFill>
              </a:rPr>
              <a:t>5. During which hour of the day do most transactions occur?</a:t>
            </a:r>
            <a:endParaRPr lang="en-IN" dirty="0">
              <a:solidFill>
                <a:srgbClr val="0070C0"/>
              </a:solidFill>
            </a:endParaRPr>
          </a:p>
        </p:txBody>
      </p:sp>
      <p:pic>
        <p:nvPicPr>
          <p:cNvPr id="16" name="Picture 15">
            <a:extLst>
              <a:ext uri="{FF2B5EF4-FFF2-40B4-BE49-F238E27FC236}">
                <a16:creationId xmlns:a16="http://schemas.microsoft.com/office/drawing/2014/main" id="{EA420E48-9A27-F4E6-C503-C4734893FB6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096000" y="5267280"/>
            <a:ext cx="4463415" cy="1392109"/>
          </a:xfrm>
          <a:prstGeom prst="rect">
            <a:avLst/>
          </a:prstGeom>
        </p:spPr>
      </p:pic>
      <p:sp>
        <p:nvSpPr>
          <p:cNvPr id="19" name="TextBox 18">
            <a:extLst>
              <a:ext uri="{FF2B5EF4-FFF2-40B4-BE49-F238E27FC236}">
                <a16:creationId xmlns:a16="http://schemas.microsoft.com/office/drawing/2014/main" id="{D1E33463-9807-D42E-75FB-A5130B3FA3A7}"/>
              </a:ext>
            </a:extLst>
          </p:cNvPr>
          <p:cNvSpPr txBox="1"/>
          <p:nvPr/>
        </p:nvSpPr>
        <p:spPr>
          <a:xfrm>
            <a:off x="104774" y="5521879"/>
            <a:ext cx="5114925" cy="369332"/>
          </a:xfrm>
          <a:prstGeom prst="rect">
            <a:avLst/>
          </a:prstGeom>
          <a:noFill/>
        </p:spPr>
        <p:txBody>
          <a:bodyPr wrap="square" rtlCol="0">
            <a:spAutoFit/>
          </a:bodyPr>
          <a:lstStyle/>
          <a:p>
            <a:r>
              <a:rPr lang="en-US" dirty="0">
                <a:solidFill>
                  <a:srgbClr val="0070C0"/>
                </a:solidFill>
              </a:rPr>
              <a:t>2. What are the total daily and monthly sales trends?</a:t>
            </a:r>
            <a:endParaRPr lang="en-IN" dirty="0">
              <a:solidFill>
                <a:srgbClr val="0070C0"/>
              </a:solidFill>
            </a:endParaRPr>
          </a:p>
        </p:txBody>
      </p:sp>
      <p:pic>
        <p:nvPicPr>
          <p:cNvPr id="21" name="Picture 20">
            <a:extLst>
              <a:ext uri="{FF2B5EF4-FFF2-40B4-BE49-F238E27FC236}">
                <a16:creationId xmlns:a16="http://schemas.microsoft.com/office/drawing/2014/main" id="{1417D2C9-2032-95D0-97B5-2A4182B47CC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774" y="6034323"/>
            <a:ext cx="5492116" cy="698310"/>
          </a:xfrm>
          <a:prstGeom prst="rect">
            <a:avLst/>
          </a:prstGeom>
        </p:spPr>
      </p:pic>
      <p:pic>
        <p:nvPicPr>
          <p:cNvPr id="22" name="Picture 21">
            <a:extLst>
              <a:ext uri="{FF2B5EF4-FFF2-40B4-BE49-F238E27FC236}">
                <a16:creationId xmlns:a16="http://schemas.microsoft.com/office/drawing/2014/main" id="{83F313CB-42E1-65FF-44AB-5AE33E7D5E85}"/>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9779" b="89872" l="3810" r="92976">
                        <a14:foregroundMark x1="30238" y1="49709" x2="30238" y2="49709"/>
                        <a14:foregroundMark x1="24762" y1="50524" x2="24762" y2="50524"/>
                        <a14:foregroundMark x1="16667" y1="50640" x2="16667" y2="50640"/>
                        <a14:foregroundMark x1="6667" y1="48428" x2="6667" y2="48428"/>
                        <a14:foregroundMark x1="6667" y1="48428" x2="6667" y2="51804"/>
                        <a14:foregroundMark x1="3810" y1="44121" x2="3810" y2="44121"/>
                        <a14:foregroundMark x1="33810" y1="50524" x2="33810" y2="50524"/>
                        <a14:foregroundMark x1="54405" y1="49593" x2="54405" y2="49593"/>
                        <a14:foregroundMark x1="59524" y1="50524" x2="59524" y2="50524"/>
                        <a14:foregroundMark x1="65714" y1="47730" x2="65714" y2="47730"/>
                        <a14:foregroundMark x1="84762" y1="42375" x2="84762" y2="42375"/>
                        <a14:foregroundMark x1="83810" y1="41909" x2="84405" y2="44470"/>
                        <a14:foregroundMark x1="89286" y1="46799" x2="91905" y2="45867"/>
                        <a14:foregroundMark x1="89643" y1="52503" x2="92976" y2="54715"/>
                        <a14:foregroundMark x1="84405" y1="55646" x2="84405" y2="59837"/>
                        <a14:foregroundMark x1="78095" y1="53783" x2="75833" y2="54133"/>
                        <a14:foregroundMark x1="79167" y1="47497" x2="76429" y2="46100"/>
                        <a14:backgroundMark x1="53095" y1="53318" x2="53095" y2="53318"/>
                        <a14:backgroundMark x1="23333" y1="53434" x2="23333" y2="53434"/>
                      </a14:backgroundRemoval>
                    </a14:imgEffect>
                  </a14:imgLayer>
                </a14:imgProps>
              </a:ext>
              <a:ext uri="{28A0092B-C50C-407E-A947-70E740481C1C}">
                <a14:useLocalDpi xmlns:a14="http://schemas.microsoft.com/office/drawing/2010/main" val="0"/>
              </a:ext>
            </a:extLst>
          </a:blip>
          <a:stretch>
            <a:fillRect/>
          </a:stretch>
        </p:blipFill>
        <p:spPr>
          <a:xfrm>
            <a:off x="11096270" y="-175502"/>
            <a:ext cx="905230" cy="925706"/>
          </a:xfrm>
          <a:prstGeom prst="rect">
            <a:avLst/>
          </a:prstGeom>
        </p:spPr>
      </p:pic>
    </p:spTree>
    <p:extLst>
      <p:ext uri="{BB962C8B-B14F-4D97-AF65-F5344CB8AC3E}">
        <p14:creationId xmlns:p14="http://schemas.microsoft.com/office/powerpoint/2010/main" val="3647924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1D7EA-03F5-7403-6B96-87BDCFBAE7C6}"/>
              </a:ext>
            </a:extLst>
          </p:cNvPr>
          <p:cNvSpPr>
            <a:spLocks noGrp="1"/>
          </p:cNvSpPr>
          <p:nvPr>
            <p:ph type="title"/>
          </p:nvPr>
        </p:nvSpPr>
        <p:spPr>
          <a:xfrm>
            <a:off x="419100" y="429280"/>
            <a:ext cx="11772899" cy="604500"/>
          </a:xfrm>
          <a:blipFill>
            <a:blip r:embed="rId2"/>
            <a:tile tx="0" ty="0" sx="100000" sy="100000" flip="none" algn="tl"/>
          </a:blipFill>
          <a:effectLst>
            <a:outerShdw blurRad="50800" dist="38100" dir="5400000" algn="t" rotWithShape="0">
              <a:prstClr val="black">
                <a:alpha val="40000"/>
              </a:prstClr>
            </a:outerShdw>
          </a:effectLst>
        </p:spPr>
        <p:txBody>
          <a:bodyPr>
            <a:normAutofit fontScale="90000"/>
          </a:bodyPr>
          <a:lstStyle/>
          <a:p>
            <a:r>
              <a:rPr lang="en-US" b="1" dirty="0">
                <a:latin typeface="Arial" panose="020B0604020202020204" pitchFamily="34" charset="0"/>
                <a:cs typeface="Arial" panose="020B0604020202020204" pitchFamily="34" charset="0"/>
              </a:rPr>
              <a:t>Payment and Profit Insights</a:t>
            </a:r>
            <a:endParaRPr lang="en-IN"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A3EFAD53-738D-0A41-45A8-2CC69442CFB5}"/>
              </a:ext>
            </a:extLst>
          </p:cNvPr>
          <p:cNvSpPr txBox="1"/>
          <p:nvPr/>
        </p:nvSpPr>
        <p:spPr>
          <a:xfrm>
            <a:off x="114301" y="1076325"/>
            <a:ext cx="7143750" cy="369332"/>
          </a:xfrm>
          <a:prstGeom prst="rect">
            <a:avLst/>
          </a:prstGeom>
          <a:noFill/>
        </p:spPr>
        <p:txBody>
          <a:bodyPr wrap="square" rtlCol="0">
            <a:spAutoFit/>
          </a:bodyPr>
          <a:lstStyle/>
          <a:p>
            <a:r>
              <a:rPr lang="en-US" dirty="0">
                <a:solidFill>
                  <a:srgbClr val="0070C0"/>
                </a:solidFill>
              </a:rPr>
              <a:t>1. Which payment method is used most frequently overall and by branch?</a:t>
            </a:r>
            <a:endParaRPr lang="en-IN" dirty="0">
              <a:solidFill>
                <a:srgbClr val="0070C0"/>
              </a:solidFill>
            </a:endParaRPr>
          </a:p>
        </p:txBody>
      </p:sp>
      <p:pic>
        <p:nvPicPr>
          <p:cNvPr id="5" name="Picture 4">
            <a:extLst>
              <a:ext uri="{FF2B5EF4-FFF2-40B4-BE49-F238E27FC236}">
                <a16:creationId xmlns:a16="http://schemas.microsoft.com/office/drawing/2014/main" id="{478B64DA-0ED8-AABA-77E7-3DCAA70AD4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1" y="1445657"/>
            <a:ext cx="2849880" cy="1097280"/>
          </a:xfrm>
          <a:prstGeom prst="rect">
            <a:avLst/>
          </a:prstGeom>
        </p:spPr>
      </p:pic>
      <p:pic>
        <p:nvPicPr>
          <p:cNvPr id="7" name="Picture 6">
            <a:extLst>
              <a:ext uri="{FF2B5EF4-FFF2-40B4-BE49-F238E27FC236}">
                <a16:creationId xmlns:a16="http://schemas.microsoft.com/office/drawing/2014/main" id="{2826BEFC-00B2-EC9B-CA97-0EC959607A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12870" y="1445657"/>
            <a:ext cx="4102873" cy="1097280"/>
          </a:xfrm>
          <a:prstGeom prst="rect">
            <a:avLst/>
          </a:prstGeom>
        </p:spPr>
      </p:pic>
      <p:sp>
        <p:nvSpPr>
          <p:cNvPr id="9" name="TextBox 8">
            <a:extLst>
              <a:ext uri="{FF2B5EF4-FFF2-40B4-BE49-F238E27FC236}">
                <a16:creationId xmlns:a16="http://schemas.microsoft.com/office/drawing/2014/main" id="{BE54946C-8647-DB33-9C50-B50ACC821FEB}"/>
              </a:ext>
            </a:extLst>
          </p:cNvPr>
          <p:cNvSpPr txBox="1"/>
          <p:nvPr/>
        </p:nvSpPr>
        <p:spPr>
          <a:xfrm>
            <a:off x="114301" y="2900363"/>
            <a:ext cx="5657849" cy="369332"/>
          </a:xfrm>
          <a:prstGeom prst="rect">
            <a:avLst/>
          </a:prstGeom>
          <a:noFill/>
        </p:spPr>
        <p:txBody>
          <a:bodyPr wrap="square" rtlCol="0">
            <a:spAutoFit/>
          </a:bodyPr>
          <a:lstStyle/>
          <a:p>
            <a:r>
              <a:rPr lang="en-US" dirty="0">
                <a:solidFill>
                  <a:srgbClr val="0070C0"/>
                </a:solidFill>
              </a:rPr>
              <a:t>2. What is the average profit margin per payment method?</a:t>
            </a:r>
            <a:endParaRPr lang="en-IN" dirty="0">
              <a:solidFill>
                <a:srgbClr val="0070C0"/>
              </a:solidFill>
            </a:endParaRPr>
          </a:p>
        </p:txBody>
      </p:sp>
      <p:pic>
        <p:nvPicPr>
          <p:cNvPr id="11" name="Picture 10">
            <a:extLst>
              <a:ext uri="{FF2B5EF4-FFF2-40B4-BE49-F238E27FC236}">
                <a16:creationId xmlns:a16="http://schemas.microsoft.com/office/drawing/2014/main" id="{1CB00E16-0405-9E0E-98BD-A53F169BAE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300" y="3398878"/>
            <a:ext cx="3118239" cy="1009650"/>
          </a:xfrm>
          <a:prstGeom prst="rect">
            <a:avLst/>
          </a:prstGeom>
        </p:spPr>
      </p:pic>
      <p:sp>
        <p:nvSpPr>
          <p:cNvPr id="12" name="TextBox 11">
            <a:extLst>
              <a:ext uri="{FF2B5EF4-FFF2-40B4-BE49-F238E27FC236}">
                <a16:creationId xmlns:a16="http://schemas.microsoft.com/office/drawing/2014/main" id="{E1B2436F-EDD4-A18E-AA24-274B3373B822}"/>
              </a:ext>
            </a:extLst>
          </p:cNvPr>
          <p:cNvSpPr txBox="1"/>
          <p:nvPr/>
        </p:nvSpPr>
        <p:spPr>
          <a:xfrm>
            <a:off x="114300" y="4619625"/>
            <a:ext cx="5657849" cy="369332"/>
          </a:xfrm>
          <a:prstGeom prst="rect">
            <a:avLst/>
          </a:prstGeom>
          <a:noFill/>
        </p:spPr>
        <p:txBody>
          <a:bodyPr wrap="square" rtlCol="0">
            <a:spAutoFit/>
          </a:bodyPr>
          <a:lstStyle/>
          <a:p>
            <a:r>
              <a:rPr lang="en-US" dirty="0">
                <a:solidFill>
                  <a:srgbClr val="0070C0"/>
                </a:solidFill>
              </a:rPr>
              <a:t>3. Identify the top 5 most profitable product categories.</a:t>
            </a:r>
            <a:endParaRPr lang="en-IN" dirty="0">
              <a:solidFill>
                <a:srgbClr val="0070C0"/>
              </a:solidFill>
            </a:endParaRPr>
          </a:p>
        </p:txBody>
      </p:sp>
      <p:pic>
        <p:nvPicPr>
          <p:cNvPr id="14" name="Picture 13">
            <a:extLst>
              <a:ext uri="{FF2B5EF4-FFF2-40B4-BE49-F238E27FC236}">
                <a16:creationId xmlns:a16="http://schemas.microsoft.com/office/drawing/2014/main" id="{326CAFA2-1B4D-308D-65D1-DB95AE9565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300" y="5050552"/>
            <a:ext cx="3124200" cy="1653540"/>
          </a:xfrm>
          <a:prstGeom prst="rect">
            <a:avLst/>
          </a:prstGeom>
        </p:spPr>
      </p:pic>
      <p:sp>
        <p:nvSpPr>
          <p:cNvPr id="15" name="TextBox 14">
            <a:extLst>
              <a:ext uri="{FF2B5EF4-FFF2-40B4-BE49-F238E27FC236}">
                <a16:creationId xmlns:a16="http://schemas.microsoft.com/office/drawing/2014/main" id="{9744D889-53F8-ECDF-FC7A-44F8E69CD1B3}"/>
              </a:ext>
            </a:extLst>
          </p:cNvPr>
          <p:cNvSpPr txBox="1"/>
          <p:nvPr/>
        </p:nvSpPr>
        <p:spPr>
          <a:xfrm>
            <a:off x="6315075" y="2900363"/>
            <a:ext cx="5657849" cy="646331"/>
          </a:xfrm>
          <a:prstGeom prst="rect">
            <a:avLst/>
          </a:prstGeom>
          <a:noFill/>
        </p:spPr>
        <p:txBody>
          <a:bodyPr wrap="square" rtlCol="0">
            <a:spAutoFit/>
          </a:bodyPr>
          <a:lstStyle/>
          <a:p>
            <a:r>
              <a:rPr lang="en-US" dirty="0">
                <a:solidFill>
                  <a:srgbClr val="0070C0"/>
                </a:solidFill>
              </a:rPr>
              <a:t>4. Which combination of city and payment method yields the most revenue?</a:t>
            </a:r>
            <a:endParaRPr lang="en-IN" dirty="0">
              <a:solidFill>
                <a:srgbClr val="0070C0"/>
              </a:solidFill>
            </a:endParaRPr>
          </a:p>
        </p:txBody>
      </p:sp>
      <p:pic>
        <p:nvPicPr>
          <p:cNvPr id="17" name="Picture 16">
            <a:extLst>
              <a:ext uri="{FF2B5EF4-FFF2-40B4-BE49-F238E27FC236}">
                <a16:creationId xmlns:a16="http://schemas.microsoft.com/office/drawing/2014/main" id="{7032B58E-6EA3-B865-935E-557DFDB52C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15075" y="3677841"/>
            <a:ext cx="5143500" cy="851458"/>
          </a:xfrm>
          <a:prstGeom prst="rect">
            <a:avLst/>
          </a:prstGeom>
        </p:spPr>
      </p:pic>
      <p:sp>
        <p:nvSpPr>
          <p:cNvPr id="18" name="TextBox 17">
            <a:extLst>
              <a:ext uri="{FF2B5EF4-FFF2-40B4-BE49-F238E27FC236}">
                <a16:creationId xmlns:a16="http://schemas.microsoft.com/office/drawing/2014/main" id="{0AC3F9E9-3F64-7FC1-7635-D7AA734DC4BC}"/>
              </a:ext>
            </a:extLst>
          </p:cNvPr>
          <p:cNvSpPr txBox="1"/>
          <p:nvPr/>
        </p:nvSpPr>
        <p:spPr>
          <a:xfrm>
            <a:off x="6315075" y="4817031"/>
            <a:ext cx="5657849" cy="646331"/>
          </a:xfrm>
          <a:prstGeom prst="rect">
            <a:avLst/>
          </a:prstGeom>
          <a:noFill/>
        </p:spPr>
        <p:txBody>
          <a:bodyPr wrap="square" rtlCol="0">
            <a:spAutoFit/>
          </a:bodyPr>
          <a:lstStyle/>
          <a:p>
            <a:r>
              <a:rPr lang="en-US" dirty="0">
                <a:solidFill>
                  <a:srgbClr val="0070C0"/>
                </a:solidFill>
              </a:rPr>
              <a:t>5. How does the average transaction value differ across payment methods?</a:t>
            </a:r>
            <a:endParaRPr lang="en-IN" dirty="0">
              <a:solidFill>
                <a:srgbClr val="0070C0"/>
              </a:solidFill>
            </a:endParaRPr>
          </a:p>
        </p:txBody>
      </p:sp>
      <p:pic>
        <p:nvPicPr>
          <p:cNvPr id="20" name="Picture 19">
            <a:extLst>
              <a:ext uri="{FF2B5EF4-FFF2-40B4-BE49-F238E27FC236}">
                <a16:creationId xmlns:a16="http://schemas.microsoft.com/office/drawing/2014/main" id="{DC0A3D4B-049D-B8FE-2D17-9E8DA582FB8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15075" y="5595284"/>
            <a:ext cx="3599535" cy="1126191"/>
          </a:xfrm>
          <a:prstGeom prst="rect">
            <a:avLst/>
          </a:prstGeom>
        </p:spPr>
      </p:pic>
      <p:pic>
        <p:nvPicPr>
          <p:cNvPr id="23" name="Picture 22">
            <a:extLst>
              <a:ext uri="{FF2B5EF4-FFF2-40B4-BE49-F238E27FC236}">
                <a16:creationId xmlns:a16="http://schemas.microsoft.com/office/drawing/2014/main" id="{32EF2F3D-6DF2-D461-68AD-8756A732AC28}"/>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9779" b="89872" l="3810" r="92976">
                        <a14:foregroundMark x1="30238" y1="49709" x2="30238" y2="49709"/>
                        <a14:foregroundMark x1="24762" y1="50524" x2="24762" y2="50524"/>
                        <a14:foregroundMark x1="16667" y1="50640" x2="16667" y2="50640"/>
                        <a14:foregroundMark x1="6667" y1="48428" x2="6667" y2="48428"/>
                        <a14:foregroundMark x1="6667" y1="48428" x2="6667" y2="51804"/>
                        <a14:foregroundMark x1="3810" y1="44121" x2="3810" y2="44121"/>
                        <a14:foregroundMark x1="33810" y1="50524" x2="33810" y2="50524"/>
                        <a14:foregroundMark x1="54405" y1="49593" x2="54405" y2="49593"/>
                        <a14:foregroundMark x1="59524" y1="50524" x2="59524" y2="50524"/>
                        <a14:foregroundMark x1="65714" y1="47730" x2="65714" y2="47730"/>
                        <a14:foregroundMark x1="84762" y1="42375" x2="84762" y2="42375"/>
                        <a14:foregroundMark x1="83810" y1="41909" x2="84405" y2="44470"/>
                        <a14:foregroundMark x1="89286" y1="46799" x2="91905" y2="45867"/>
                        <a14:foregroundMark x1="89643" y1="52503" x2="92976" y2="54715"/>
                        <a14:foregroundMark x1="84405" y1="55646" x2="84405" y2="59837"/>
                        <a14:foregroundMark x1="78095" y1="53783" x2="75833" y2="54133"/>
                        <a14:foregroundMark x1="79167" y1="47497" x2="76429" y2="46100"/>
                        <a14:backgroundMark x1="53095" y1="53318" x2="53095" y2="53318"/>
                        <a14:backgroundMark x1="23333" y1="53434" x2="23333" y2="53434"/>
                      </a14:backgroundRemoval>
                    </a14:imgEffect>
                  </a14:imgLayer>
                </a14:imgProps>
              </a:ext>
              <a:ext uri="{28A0092B-C50C-407E-A947-70E740481C1C}">
                <a14:useLocalDpi xmlns:a14="http://schemas.microsoft.com/office/drawing/2010/main" val="0"/>
              </a:ext>
            </a:extLst>
          </a:blip>
          <a:stretch>
            <a:fillRect/>
          </a:stretch>
        </p:blipFill>
        <p:spPr>
          <a:xfrm>
            <a:off x="11096270" y="-175502"/>
            <a:ext cx="905230" cy="925706"/>
          </a:xfrm>
          <a:prstGeom prst="rect">
            <a:avLst/>
          </a:prstGeom>
        </p:spPr>
      </p:pic>
    </p:spTree>
    <p:extLst>
      <p:ext uri="{BB962C8B-B14F-4D97-AF65-F5344CB8AC3E}">
        <p14:creationId xmlns:p14="http://schemas.microsoft.com/office/powerpoint/2010/main" val="1219052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801E5-9EB4-816F-2241-7DA39B56E6A2}"/>
              </a:ext>
            </a:extLst>
          </p:cNvPr>
          <p:cNvSpPr>
            <a:spLocks noGrp="1"/>
          </p:cNvSpPr>
          <p:nvPr>
            <p:ph type="title"/>
          </p:nvPr>
        </p:nvSpPr>
        <p:spPr>
          <a:xfrm>
            <a:off x="647700" y="437376"/>
            <a:ext cx="11544301" cy="646331"/>
          </a:xfrm>
          <a:blipFill>
            <a:blip r:embed="rId2"/>
            <a:tile tx="0" ty="0" sx="100000" sy="100000" flip="none" algn="tl"/>
          </a:blipFill>
          <a:effectLst>
            <a:outerShdw blurRad="50800" dist="38100" dir="5400000" algn="t" rotWithShape="0">
              <a:prstClr val="black">
                <a:alpha val="40000"/>
              </a:prstClr>
            </a:outerShdw>
          </a:effectLst>
        </p:spPr>
        <p:txBody>
          <a:bodyPr>
            <a:normAutofit fontScale="90000"/>
          </a:bodyPr>
          <a:lstStyle/>
          <a:p>
            <a:r>
              <a:rPr lang="en-US" b="1" dirty="0">
                <a:latin typeface="Arial" panose="020B0604020202020204" pitchFamily="34" charset="0"/>
                <a:cs typeface="Arial" panose="020B0604020202020204" pitchFamily="34" charset="0"/>
              </a:rPr>
              <a:t>Customer and Rating Insights</a:t>
            </a:r>
            <a:endParaRPr lang="en-IN"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E83DD65C-8EEA-8423-C50F-8223E98E964F}"/>
              </a:ext>
            </a:extLst>
          </p:cNvPr>
          <p:cNvSpPr txBox="1"/>
          <p:nvPr/>
        </p:nvSpPr>
        <p:spPr>
          <a:xfrm>
            <a:off x="333375" y="1238250"/>
            <a:ext cx="4638675" cy="369332"/>
          </a:xfrm>
          <a:prstGeom prst="rect">
            <a:avLst/>
          </a:prstGeom>
          <a:noFill/>
        </p:spPr>
        <p:txBody>
          <a:bodyPr wrap="square" rtlCol="0">
            <a:spAutoFit/>
          </a:bodyPr>
          <a:lstStyle/>
          <a:p>
            <a:r>
              <a:rPr lang="en-US" dirty="0">
                <a:solidFill>
                  <a:srgbClr val="0070C0"/>
                </a:solidFill>
              </a:rPr>
              <a:t>1. What is the average rating for each branch?</a:t>
            </a:r>
            <a:endParaRPr lang="en-IN" dirty="0">
              <a:solidFill>
                <a:srgbClr val="0070C0"/>
              </a:solidFill>
            </a:endParaRPr>
          </a:p>
        </p:txBody>
      </p:sp>
      <p:pic>
        <p:nvPicPr>
          <p:cNvPr id="5" name="Picture 4">
            <a:extLst>
              <a:ext uri="{FF2B5EF4-FFF2-40B4-BE49-F238E27FC236}">
                <a16:creationId xmlns:a16="http://schemas.microsoft.com/office/drawing/2014/main" id="{412921B0-B2BC-58C9-6657-22C9834CD6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700" y="1662031"/>
            <a:ext cx="3952875" cy="843601"/>
          </a:xfrm>
          <a:prstGeom prst="rect">
            <a:avLst/>
          </a:prstGeom>
        </p:spPr>
      </p:pic>
      <p:sp>
        <p:nvSpPr>
          <p:cNvPr id="6" name="TextBox 5">
            <a:extLst>
              <a:ext uri="{FF2B5EF4-FFF2-40B4-BE49-F238E27FC236}">
                <a16:creationId xmlns:a16="http://schemas.microsoft.com/office/drawing/2014/main" id="{1EBA3C87-BA89-1793-1D1F-AD52C5E65495}"/>
              </a:ext>
            </a:extLst>
          </p:cNvPr>
          <p:cNvSpPr txBox="1"/>
          <p:nvPr/>
        </p:nvSpPr>
        <p:spPr>
          <a:xfrm>
            <a:off x="333375" y="2876550"/>
            <a:ext cx="5505450" cy="369332"/>
          </a:xfrm>
          <a:prstGeom prst="rect">
            <a:avLst/>
          </a:prstGeom>
          <a:noFill/>
        </p:spPr>
        <p:txBody>
          <a:bodyPr wrap="square" rtlCol="0">
            <a:spAutoFit/>
          </a:bodyPr>
          <a:lstStyle/>
          <a:p>
            <a:r>
              <a:rPr lang="en-US" dirty="0">
                <a:solidFill>
                  <a:srgbClr val="0070C0"/>
                </a:solidFill>
              </a:rPr>
              <a:t>2. Do higher ratings correlate with higher profit margins?</a:t>
            </a:r>
            <a:endParaRPr lang="en-IN" dirty="0">
              <a:solidFill>
                <a:srgbClr val="0070C0"/>
              </a:solidFill>
            </a:endParaRPr>
          </a:p>
        </p:txBody>
      </p:sp>
      <p:pic>
        <p:nvPicPr>
          <p:cNvPr id="8" name="Picture 7">
            <a:extLst>
              <a:ext uri="{FF2B5EF4-FFF2-40B4-BE49-F238E27FC236}">
                <a16:creationId xmlns:a16="http://schemas.microsoft.com/office/drawing/2014/main" id="{D6656672-006A-F1AF-B5A9-00E44F562D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00" y="3331050"/>
            <a:ext cx="2918460" cy="571500"/>
          </a:xfrm>
          <a:prstGeom prst="rect">
            <a:avLst/>
          </a:prstGeom>
        </p:spPr>
      </p:pic>
      <p:sp>
        <p:nvSpPr>
          <p:cNvPr id="9" name="TextBox 8">
            <a:extLst>
              <a:ext uri="{FF2B5EF4-FFF2-40B4-BE49-F238E27FC236}">
                <a16:creationId xmlns:a16="http://schemas.microsoft.com/office/drawing/2014/main" id="{24EBE817-EF18-7320-E5DB-9379327D5186}"/>
              </a:ext>
            </a:extLst>
          </p:cNvPr>
          <p:cNvSpPr txBox="1"/>
          <p:nvPr/>
        </p:nvSpPr>
        <p:spPr>
          <a:xfrm>
            <a:off x="333374" y="4162425"/>
            <a:ext cx="6181725" cy="369332"/>
          </a:xfrm>
          <a:prstGeom prst="rect">
            <a:avLst/>
          </a:prstGeom>
          <a:noFill/>
        </p:spPr>
        <p:txBody>
          <a:bodyPr wrap="square" rtlCol="0">
            <a:spAutoFit/>
          </a:bodyPr>
          <a:lstStyle/>
          <a:p>
            <a:r>
              <a:rPr lang="en-US" dirty="0">
                <a:solidFill>
                  <a:srgbClr val="0070C0"/>
                </a:solidFill>
              </a:rPr>
              <a:t>3. Which product categories receive the highest average ratings?</a:t>
            </a:r>
            <a:endParaRPr lang="en-IN" dirty="0">
              <a:solidFill>
                <a:srgbClr val="0070C0"/>
              </a:solidFill>
            </a:endParaRPr>
          </a:p>
        </p:txBody>
      </p:sp>
      <p:pic>
        <p:nvPicPr>
          <p:cNvPr id="11" name="Picture 10">
            <a:extLst>
              <a:ext uri="{FF2B5EF4-FFF2-40B4-BE49-F238E27FC236}">
                <a16:creationId xmlns:a16="http://schemas.microsoft.com/office/drawing/2014/main" id="{CFEF6C96-EB78-E9D2-1851-928E35AFCC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7700" y="4730672"/>
            <a:ext cx="3208020" cy="1912620"/>
          </a:xfrm>
          <a:prstGeom prst="rect">
            <a:avLst/>
          </a:prstGeom>
        </p:spPr>
      </p:pic>
      <p:sp>
        <p:nvSpPr>
          <p:cNvPr id="12" name="TextBox 11">
            <a:extLst>
              <a:ext uri="{FF2B5EF4-FFF2-40B4-BE49-F238E27FC236}">
                <a16:creationId xmlns:a16="http://schemas.microsoft.com/office/drawing/2014/main" id="{7677E2E3-8648-256D-D523-330D09B0E903}"/>
              </a:ext>
            </a:extLst>
          </p:cNvPr>
          <p:cNvSpPr txBox="1"/>
          <p:nvPr/>
        </p:nvSpPr>
        <p:spPr>
          <a:xfrm>
            <a:off x="6463666" y="1668223"/>
            <a:ext cx="6181725" cy="369332"/>
          </a:xfrm>
          <a:prstGeom prst="rect">
            <a:avLst/>
          </a:prstGeom>
          <a:noFill/>
        </p:spPr>
        <p:txBody>
          <a:bodyPr wrap="square" rtlCol="0">
            <a:spAutoFit/>
          </a:bodyPr>
          <a:lstStyle/>
          <a:p>
            <a:r>
              <a:rPr lang="en-US" dirty="0">
                <a:solidFill>
                  <a:srgbClr val="0070C0"/>
                </a:solidFill>
              </a:rPr>
              <a:t>4. How do ratings vary across different payment methods?</a:t>
            </a:r>
            <a:endParaRPr lang="en-IN" dirty="0">
              <a:solidFill>
                <a:srgbClr val="0070C0"/>
              </a:solidFill>
            </a:endParaRPr>
          </a:p>
        </p:txBody>
      </p:sp>
      <p:pic>
        <p:nvPicPr>
          <p:cNvPr id="14" name="Picture 13">
            <a:extLst>
              <a:ext uri="{FF2B5EF4-FFF2-40B4-BE49-F238E27FC236}">
                <a16:creationId xmlns:a16="http://schemas.microsoft.com/office/drawing/2014/main" id="{EF10909C-12DE-3F96-EEC7-2B033958DF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49414" y="2037555"/>
            <a:ext cx="2895600" cy="1112520"/>
          </a:xfrm>
          <a:prstGeom prst="rect">
            <a:avLst/>
          </a:prstGeom>
        </p:spPr>
      </p:pic>
      <p:sp>
        <p:nvSpPr>
          <p:cNvPr id="15" name="TextBox 14">
            <a:extLst>
              <a:ext uri="{FF2B5EF4-FFF2-40B4-BE49-F238E27FC236}">
                <a16:creationId xmlns:a16="http://schemas.microsoft.com/office/drawing/2014/main" id="{A9CFCE82-B333-39AD-BB56-553E89E5EC3B}"/>
              </a:ext>
            </a:extLst>
          </p:cNvPr>
          <p:cNvSpPr txBox="1"/>
          <p:nvPr/>
        </p:nvSpPr>
        <p:spPr>
          <a:xfrm>
            <a:off x="6463666" y="3302832"/>
            <a:ext cx="6181725" cy="646331"/>
          </a:xfrm>
          <a:prstGeom prst="rect">
            <a:avLst/>
          </a:prstGeom>
          <a:noFill/>
        </p:spPr>
        <p:txBody>
          <a:bodyPr wrap="square" rtlCol="0">
            <a:spAutoFit/>
          </a:bodyPr>
          <a:lstStyle/>
          <a:p>
            <a:r>
              <a:rPr lang="en-US" dirty="0">
                <a:solidFill>
                  <a:srgbClr val="0070C0"/>
                </a:solidFill>
              </a:rPr>
              <a:t>5. Are there specific cities or branches where customer satisfaction is below average?</a:t>
            </a:r>
            <a:endParaRPr lang="en-IN" dirty="0">
              <a:solidFill>
                <a:srgbClr val="0070C0"/>
              </a:solidFill>
            </a:endParaRPr>
          </a:p>
        </p:txBody>
      </p:sp>
      <p:pic>
        <p:nvPicPr>
          <p:cNvPr id="17" name="Picture 16">
            <a:extLst>
              <a:ext uri="{FF2B5EF4-FFF2-40B4-BE49-F238E27FC236}">
                <a16:creationId xmlns:a16="http://schemas.microsoft.com/office/drawing/2014/main" id="{91FA39D0-9B46-4B4F-5723-9801844C76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49414" y="4046773"/>
            <a:ext cx="5120432" cy="1793400"/>
          </a:xfrm>
          <a:prstGeom prst="rect">
            <a:avLst/>
          </a:prstGeom>
        </p:spPr>
      </p:pic>
      <p:pic>
        <p:nvPicPr>
          <p:cNvPr id="18" name="Picture 17">
            <a:extLst>
              <a:ext uri="{FF2B5EF4-FFF2-40B4-BE49-F238E27FC236}">
                <a16:creationId xmlns:a16="http://schemas.microsoft.com/office/drawing/2014/main" id="{63362B37-0E43-8DC5-767C-1BAFD82A41D1}"/>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9779" b="89872" l="3810" r="92976">
                        <a14:foregroundMark x1="30238" y1="49709" x2="30238" y2="49709"/>
                        <a14:foregroundMark x1="24762" y1="50524" x2="24762" y2="50524"/>
                        <a14:foregroundMark x1="16667" y1="50640" x2="16667" y2="50640"/>
                        <a14:foregroundMark x1="6667" y1="48428" x2="6667" y2="48428"/>
                        <a14:foregroundMark x1="6667" y1="48428" x2="6667" y2="51804"/>
                        <a14:foregroundMark x1="3810" y1="44121" x2="3810" y2="44121"/>
                        <a14:foregroundMark x1="33810" y1="50524" x2="33810" y2="50524"/>
                        <a14:foregroundMark x1="54405" y1="49593" x2="54405" y2="49593"/>
                        <a14:foregroundMark x1="59524" y1="50524" x2="59524" y2="50524"/>
                        <a14:foregroundMark x1="65714" y1="47730" x2="65714" y2="47730"/>
                        <a14:foregroundMark x1="84762" y1="42375" x2="84762" y2="42375"/>
                        <a14:foregroundMark x1="83810" y1="41909" x2="84405" y2="44470"/>
                        <a14:foregroundMark x1="89286" y1="46799" x2="91905" y2="45867"/>
                        <a14:foregroundMark x1="89643" y1="52503" x2="92976" y2="54715"/>
                        <a14:foregroundMark x1="84405" y1="55646" x2="84405" y2="59837"/>
                        <a14:foregroundMark x1="78095" y1="53783" x2="75833" y2="54133"/>
                        <a14:foregroundMark x1="79167" y1="47497" x2="76429" y2="46100"/>
                        <a14:backgroundMark x1="53095" y1="53318" x2="53095" y2="53318"/>
                        <a14:backgroundMark x1="23333" y1="53434" x2="23333" y2="53434"/>
                      </a14:backgroundRemoval>
                    </a14:imgEffect>
                  </a14:imgLayer>
                </a14:imgProps>
              </a:ext>
              <a:ext uri="{28A0092B-C50C-407E-A947-70E740481C1C}">
                <a14:useLocalDpi xmlns:a14="http://schemas.microsoft.com/office/drawing/2010/main" val="0"/>
              </a:ext>
            </a:extLst>
          </a:blip>
          <a:stretch>
            <a:fillRect/>
          </a:stretch>
        </p:blipFill>
        <p:spPr>
          <a:xfrm>
            <a:off x="11096270" y="-175502"/>
            <a:ext cx="905230" cy="925706"/>
          </a:xfrm>
          <a:prstGeom prst="rect">
            <a:avLst/>
          </a:prstGeom>
        </p:spPr>
      </p:pic>
    </p:spTree>
    <p:extLst>
      <p:ext uri="{BB962C8B-B14F-4D97-AF65-F5344CB8AC3E}">
        <p14:creationId xmlns:p14="http://schemas.microsoft.com/office/powerpoint/2010/main" val="232167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0BAC5-007E-D96D-BA5D-5A8F034DAC43}"/>
              </a:ext>
            </a:extLst>
          </p:cNvPr>
          <p:cNvSpPr>
            <a:spLocks noGrp="1"/>
          </p:cNvSpPr>
          <p:nvPr>
            <p:ph type="title"/>
          </p:nvPr>
        </p:nvSpPr>
        <p:spPr>
          <a:xfrm>
            <a:off x="742950" y="400050"/>
            <a:ext cx="11449050" cy="733426"/>
          </a:xfrm>
          <a:blipFill>
            <a:blip r:embed="rId2"/>
            <a:tile tx="0" ty="0" sx="100000" sy="100000" flip="none" algn="tl"/>
          </a:blipFill>
          <a:effectLst>
            <a:outerShdw blurRad="50800" dist="38100" dir="5400000" algn="t" rotWithShape="0">
              <a:prstClr val="black">
                <a:alpha val="40000"/>
              </a:prstClr>
            </a:outerShdw>
          </a:effectLst>
        </p:spPr>
        <p:txBody>
          <a:bodyPr/>
          <a:lstStyle/>
          <a:p>
            <a:r>
              <a:rPr lang="en-US" b="1" dirty="0">
                <a:latin typeface="Arial" panose="020B0604020202020204" pitchFamily="34" charset="0"/>
                <a:cs typeface="Arial" panose="020B0604020202020204" pitchFamily="34" charset="0"/>
              </a:rPr>
              <a:t>Key Performance Summary</a:t>
            </a:r>
            <a:endParaRPr lang="en-IN" b="1" dirty="0">
              <a:latin typeface="Arial" panose="020B0604020202020204" pitchFamily="34" charset="0"/>
              <a:cs typeface="Arial" panose="020B0604020202020204" pitchFamily="34" charset="0"/>
            </a:endParaRPr>
          </a:p>
        </p:txBody>
      </p:sp>
      <p:graphicFrame>
        <p:nvGraphicFramePr>
          <p:cNvPr id="3" name="Table 3">
            <a:extLst>
              <a:ext uri="{FF2B5EF4-FFF2-40B4-BE49-F238E27FC236}">
                <a16:creationId xmlns:a16="http://schemas.microsoft.com/office/drawing/2014/main" id="{BA656830-87AB-FF80-826B-368CCC93D165}"/>
              </a:ext>
            </a:extLst>
          </p:cNvPr>
          <p:cNvGraphicFramePr>
            <a:graphicFrameLocks noGrp="1"/>
          </p:cNvGraphicFramePr>
          <p:nvPr>
            <p:extLst>
              <p:ext uri="{D42A27DB-BD31-4B8C-83A1-F6EECF244321}">
                <p14:modId xmlns:p14="http://schemas.microsoft.com/office/powerpoint/2010/main" val="2378332194"/>
              </p:ext>
            </p:extLst>
          </p:nvPr>
        </p:nvGraphicFramePr>
        <p:xfrm>
          <a:off x="1963736" y="1393666"/>
          <a:ext cx="8264526" cy="4921411"/>
        </p:xfrm>
        <a:graphic>
          <a:graphicData uri="http://schemas.openxmlformats.org/drawingml/2006/table">
            <a:tbl>
              <a:tblPr firstRow="1" bandRow="1">
                <a:tableStyleId>{69012ECD-51FC-41F1-AA8D-1B2483CD663E}</a:tableStyleId>
              </a:tblPr>
              <a:tblGrid>
                <a:gridCol w="4132263">
                  <a:extLst>
                    <a:ext uri="{9D8B030D-6E8A-4147-A177-3AD203B41FA5}">
                      <a16:colId xmlns:a16="http://schemas.microsoft.com/office/drawing/2014/main" val="3254986145"/>
                    </a:ext>
                  </a:extLst>
                </a:gridCol>
                <a:gridCol w="4132263">
                  <a:extLst>
                    <a:ext uri="{9D8B030D-6E8A-4147-A177-3AD203B41FA5}">
                      <a16:colId xmlns:a16="http://schemas.microsoft.com/office/drawing/2014/main" val="856590580"/>
                    </a:ext>
                  </a:extLst>
                </a:gridCol>
              </a:tblGrid>
              <a:tr h="609882">
                <a:tc>
                  <a:txBody>
                    <a:bodyPr/>
                    <a:lstStyle/>
                    <a:p>
                      <a:r>
                        <a:rPr lang="en-IN" dirty="0"/>
                        <a:t>Area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Best Performer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3565644"/>
                  </a:ext>
                </a:extLst>
              </a:tr>
              <a:tr h="609882">
                <a:tc>
                  <a:txBody>
                    <a:bodyPr/>
                    <a:lstStyle/>
                    <a:p>
                      <a:r>
                        <a:rPr lang="en-IN" b="1" dirty="0">
                          <a:solidFill>
                            <a:schemeClr val="tx1"/>
                          </a:solidFill>
                          <a:highlight>
                            <a:srgbClr val="FFFF00"/>
                          </a:highlight>
                        </a:rPr>
                        <a:t>Branch (Highest rating)</a:t>
                      </a:r>
                      <a:endParaRPr lang="en-IN" dirty="0">
                        <a:solidFill>
                          <a:schemeClr val="tx1"/>
                        </a:solidFill>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solidFill>
                            <a:srgbClr val="0070C0"/>
                          </a:solidFill>
                        </a:rPr>
                        <a:t>WALM004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4651913"/>
                  </a:ext>
                </a:extLst>
              </a:tr>
              <a:tr h="609882">
                <a:tc>
                  <a:txBody>
                    <a:bodyPr/>
                    <a:lstStyle/>
                    <a:p>
                      <a:r>
                        <a:rPr lang="en-IN" b="1" dirty="0">
                          <a:solidFill>
                            <a:schemeClr val="tx1"/>
                          </a:solidFill>
                          <a:highlight>
                            <a:srgbClr val="FFFF00"/>
                          </a:highlight>
                        </a:rPr>
                        <a:t>City (Highest Revenue)</a:t>
                      </a:r>
                      <a:endParaRPr lang="en-IN" dirty="0">
                        <a:solidFill>
                          <a:schemeClr val="tx1"/>
                        </a:solidFill>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solidFill>
                            <a:srgbClr val="0070C0"/>
                          </a:solidFill>
                        </a:rPr>
                        <a:t>Weslaco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7693098"/>
                  </a:ext>
                </a:extLst>
              </a:tr>
              <a:tr h="618353">
                <a:tc>
                  <a:txBody>
                    <a:bodyPr/>
                    <a:lstStyle/>
                    <a:p>
                      <a:r>
                        <a:rPr lang="en-IN" b="1" dirty="0">
                          <a:highlight>
                            <a:srgbClr val="FFFF00"/>
                          </a:highlight>
                        </a:rPr>
                        <a:t>Category (Highest sales)</a:t>
                      </a:r>
                      <a:endParaRPr lang="en-IN" dirty="0">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solidFill>
                            <a:srgbClr val="0070C0"/>
                          </a:solidFill>
                        </a:rPr>
                        <a:t>Home and lifestyle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3046161"/>
                  </a:ext>
                </a:extLst>
              </a:tr>
              <a:tr h="618353">
                <a:tc>
                  <a:txBody>
                    <a:bodyPr/>
                    <a:lstStyle/>
                    <a:p>
                      <a:r>
                        <a:rPr lang="en-IN" b="1" dirty="0">
                          <a:highlight>
                            <a:srgbClr val="FFFF00"/>
                          </a:highlight>
                        </a:rPr>
                        <a:t>Payment Method (Overall used)</a:t>
                      </a:r>
                      <a:endParaRPr lang="en-IN" dirty="0">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solidFill>
                            <a:srgbClr val="0070C0"/>
                          </a:solidFill>
                        </a:rPr>
                        <a:t>Credit card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9618505"/>
                  </a:ext>
                </a:extLst>
              </a:tr>
              <a:tr h="618353">
                <a:tc>
                  <a:txBody>
                    <a:bodyPr/>
                    <a:lstStyle/>
                    <a:p>
                      <a:r>
                        <a:rPr lang="en-IN" b="1" dirty="0">
                          <a:highlight>
                            <a:srgbClr val="FFFF00"/>
                          </a:highlight>
                        </a:rPr>
                        <a:t>Peak Hour (Most transactions)</a:t>
                      </a:r>
                      <a:endParaRPr lang="en-IN" dirty="0">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solidFill>
                            <a:srgbClr val="0070C0"/>
                          </a:solidFill>
                        </a:rPr>
                        <a:t>3-5 PM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7724732"/>
                  </a:ext>
                </a:extLst>
              </a:tr>
              <a:tr h="618353">
                <a:tc>
                  <a:txBody>
                    <a:bodyPr/>
                    <a:lstStyle/>
                    <a:p>
                      <a:r>
                        <a:rPr lang="en-IN" b="1" dirty="0">
                          <a:highlight>
                            <a:srgbClr val="FFFF00"/>
                          </a:highlight>
                        </a:rPr>
                        <a:t>Best Month (Highest sales)</a:t>
                      </a:r>
                      <a:endParaRPr lang="en-IN" dirty="0">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solidFill>
                            <a:srgbClr val="0070C0"/>
                          </a:solidFill>
                        </a:rPr>
                        <a:t>January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7549815"/>
                  </a:ext>
                </a:extLst>
              </a:tr>
              <a:tr h="618353">
                <a:tc>
                  <a:txBody>
                    <a:bodyPr/>
                    <a:lstStyle/>
                    <a:p>
                      <a:r>
                        <a:rPr lang="en-IN" b="1" dirty="0">
                          <a:highlight>
                            <a:srgbClr val="FFFF00"/>
                          </a:highlight>
                        </a:rPr>
                        <a:t>Highest Rating Category</a:t>
                      </a:r>
                      <a:endParaRPr lang="en-IN" dirty="0">
                        <a:highlight>
                          <a:srgbClr val="FFFF00"/>
                        </a:highligh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solidFill>
                            <a:srgbClr val="0070C0"/>
                          </a:solidFill>
                        </a:rPr>
                        <a:t>Food and beverages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4007221"/>
                  </a:ext>
                </a:extLst>
              </a:tr>
            </a:tbl>
          </a:graphicData>
        </a:graphic>
      </p:graphicFrame>
      <p:pic>
        <p:nvPicPr>
          <p:cNvPr id="5" name="Picture 4">
            <a:extLst>
              <a:ext uri="{FF2B5EF4-FFF2-40B4-BE49-F238E27FC236}">
                <a16:creationId xmlns:a16="http://schemas.microsoft.com/office/drawing/2014/main" id="{C17E8A94-2813-0581-B740-04B7D70EC32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79" b="89872" l="3810" r="92976">
                        <a14:foregroundMark x1="30238" y1="49709" x2="30238" y2="49709"/>
                        <a14:foregroundMark x1="24762" y1="50524" x2="24762" y2="50524"/>
                        <a14:foregroundMark x1="16667" y1="50640" x2="16667" y2="50640"/>
                        <a14:foregroundMark x1="6667" y1="48428" x2="6667" y2="48428"/>
                        <a14:foregroundMark x1="6667" y1="48428" x2="6667" y2="51804"/>
                        <a14:foregroundMark x1="3810" y1="44121" x2="3810" y2="44121"/>
                        <a14:foregroundMark x1="33810" y1="50524" x2="33810" y2="50524"/>
                        <a14:foregroundMark x1="54405" y1="49593" x2="54405" y2="49593"/>
                        <a14:foregroundMark x1="59524" y1="50524" x2="59524" y2="50524"/>
                        <a14:foregroundMark x1="65714" y1="47730" x2="65714" y2="47730"/>
                        <a14:foregroundMark x1="84762" y1="42375" x2="84762" y2="42375"/>
                        <a14:foregroundMark x1="83810" y1="41909" x2="84405" y2="44470"/>
                        <a14:foregroundMark x1="89286" y1="46799" x2="91905" y2="45867"/>
                        <a14:foregroundMark x1="89643" y1="52503" x2="92976" y2="54715"/>
                        <a14:foregroundMark x1="84405" y1="55646" x2="84405" y2="59837"/>
                        <a14:foregroundMark x1="78095" y1="53783" x2="75833" y2="54133"/>
                        <a14:foregroundMark x1="79167" y1="47497" x2="76429" y2="46100"/>
                        <a14:backgroundMark x1="53095" y1="53318" x2="53095" y2="53318"/>
                        <a14:backgroundMark x1="23333" y1="53434" x2="23333" y2="53434"/>
                      </a14:backgroundRemoval>
                    </a14:imgEffect>
                  </a14:imgLayer>
                </a14:imgProps>
              </a:ext>
              <a:ext uri="{28A0092B-C50C-407E-A947-70E740481C1C}">
                <a14:useLocalDpi xmlns:a14="http://schemas.microsoft.com/office/drawing/2010/main" val="0"/>
              </a:ext>
            </a:extLst>
          </a:blip>
          <a:stretch>
            <a:fillRect/>
          </a:stretch>
        </p:blipFill>
        <p:spPr>
          <a:xfrm>
            <a:off x="11096270" y="-175502"/>
            <a:ext cx="905230" cy="925706"/>
          </a:xfrm>
          <a:prstGeom prst="rect">
            <a:avLst/>
          </a:prstGeom>
        </p:spPr>
      </p:pic>
    </p:spTree>
    <p:extLst>
      <p:ext uri="{BB962C8B-B14F-4D97-AF65-F5344CB8AC3E}">
        <p14:creationId xmlns:p14="http://schemas.microsoft.com/office/powerpoint/2010/main" val="1659577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000A8-075F-7A23-51F2-7F088C12FF22}"/>
              </a:ext>
            </a:extLst>
          </p:cNvPr>
          <p:cNvSpPr>
            <a:spLocks noGrp="1"/>
          </p:cNvSpPr>
          <p:nvPr>
            <p:ph type="title"/>
          </p:nvPr>
        </p:nvSpPr>
        <p:spPr>
          <a:xfrm>
            <a:off x="1028700" y="669926"/>
            <a:ext cx="11163299" cy="768350"/>
          </a:xfrm>
          <a:blipFill>
            <a:blip r:embed="rId2"/>
            <a:tile tx="0" ty="0" sx="100000" sy="100000" flip="none" algn="tl"/>
          </a:blipFill>
          <a:effectLst>
            <a:outerShdw blurRad="50800" dist="38100" dir="5400000" algn="t" rotWithShape="0">
              <a:prstClr val="black">
                <a:alpha val="40000"/>
              </a:prstClr>
            </a:outerShdw>
          </a:effectLst>
        </p:spPr>
        <p:txBody>
          <a:bodyPr/>
          <a:lstStyle/>
          <a:p>
            <a:r>
              <a:rPr lang="en-US" b="1" dirty="0">
                <a:latin typeface="Arial" panose="020B0604020202020204" pitchFamily="34" charset="0"/>
                <a:cs typeface="Arial" panose="020B0604020202020204" pitchFamily="34" charset="0"/>
              </a:rPr>
              <a:t>Recommendations</a:t>
            </a:r>
            <a:endParaRPr lang="en-IN"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4BC8E473-B8ED-1166-8521-6C8509496523}"/>
              </a:ext>
            </a:extLst>
          </p:cNvPr>
          <p:cNvSpPr txBox="1"/>
          <p:nvPr/>
        </p:nvSpPr>
        <p:spPr>
          <a:xfrm>
            <a:off x="1028700" y="2028825"/>
            <a:ext cx="10134600" cy="3539430"/>
          </a:xfrm>
          <a:prstGeom prst="rect">
            <a:avLst/>
          </a:prstGeom>
          <a:noFill/>
        </p:spPr>
        <p:txBody>
          <a:bodyPr wrap="square" rtlCol="0">
            <a:spAutoFit/>
          </a:bodyPr>
          <a:lstStyle/>
          <a:p>
            <a:pPr marL="285750" indent="-285750">
              <a:buFont typeface="Wingdings" panose="05000000000000000000" pitchFamily="2" charset="2"/>
              <a:buChar char="Ø"/>
            </a:pPr>
            <a:r>
              <a:rPr lang="en-US" sz="3200" dirty="0">
                <a:solidFill>
                  <a:srgbClr val="0070C0"/>
                </a:solidFill>
              </a:rPr>
              <a:t>Increase stock &amp; promotions in top categories.</a:t>
            </a:r>
          </a:p>
          <a:p>
            <a:pPr marL="285750" indent="-285750">
              <a:buFont typeface="Wingdings" panose="05000000000000000000" pitchFamily="2" charset="2"/>
              <a:buChar char="Ø"/>
            </a:pPr>
            <a:r>
              <a:rPr lang="en-US" sz="3200" dirty="0">
                <a:solidFill>
                  <a:srgbClr val="0070C0"/>
                </a:solidFill>
              </a:rPr>
              <a:t>Encourage E-wallet &amp; Credit card payments with cashback offers.</a:t>
            </a:r>
          </a:p>
          <a:p>
            <a:pPr marL="285750" indent="-285750">
              <a:buFont typeface="Wingdings" panose="05000000000000000000" pitchFamily="2" charset="2"/>
              <a:buChar char="Ø"/>
            </a:pPr>
            <a:r>
              <a:rPr lang="en-US" sz="3200" dirty="0">
                <a:solidFill>
                  <a:srgbClr val="0070C0"/>
                </a:solidFill>
              </a:rPr>
              <a:t>Launch customer service improvement programs for low-rated branches.</a:t>
            </a:r>
          </a:p>
          <a:p>
            <a:pPr marL="285750" indent="-285750">
              <a:buFont typeface="Wingdings" panose="05000000000000000000" pitchFamily="2" charset="2"/>
              <a:buChar char="Ø"/>
            </a:pPr>
            <a:r>
              <a:rPr lang="en-US" sz="3200" dirty="0">
                <a:solidFill>
                  <a:srgbClr val="0070C0"/>
                </a:solidFill>
              </a:rPr>
              <a:t>Focus marketing campaigns on weekends and peak hours.</a:t>
            </a:r>
          </a:p>
          <a:p>
            <a:pPr marL="285750" indent="-285750">
              <a:buFont typeface="Wingdings" panose="05000000000000000000" pitchFamily="2" charset="2"/>
              <a:buChar char="Ø"/>
            </a:pPr>
            <a:r>
              <a:rPr lang="en-US" sz="3200" dirty="0">
                <a:solidFill>
                  <a:srgbClr val="0070C0"/>
                </a:solidFill>
              </a:rPr>
              <a:t>Explore Home &amp; Lifestyle as a profit growth segment.</a:t>
            </a:r>
            <a:endParaRPr lang="en-IN" sz="3200" dirty="0">
              <a:solidFill>
                <a:srgbClr val="0070C0"/>
              </a:solidFill>
            </a:endParaRPr>
          </a:p>
        </p:txBody>
      </p:sp>
      <p:pic>
        <p:nvPicPr>
          <p:cNvPr id="4" name="Picture 3">
            <a:extLst>
              <a:ext uri="{FF2B5EF4-FFF2-40B4-BE49-F238E27FC236}">
                <a16:creationId xmlns:a16="http://schemas.microsoft.com/office/drawing/2014/main" id="{92CB6B50-8B47-AA53-CBDB-9704A28F3E1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79" b="89872" l="3810" r="92976">
                        <a14:foregroundMark x1="30238" y1="49709" x2="30238" y2="49709"/>
                        <a14:foregroundMark x1="24762" y1="50524" x2="24762" y2="50524"/>
                        <a14:foregroundMark x1="16667" y1="50640" x2="16667" y2="50640"/>
                        <a14:foregroundMark x1="6667" y1="48428" x2="6667" y2="48428"/>
                        <a14:foregroundMark x1="6667" y1="48428" x2="6667" y2="51804"/>
                        <a14:foregroundMark x1="3810" y1="44121" x2="3810" y2="44121"/>
                        <a14:foregroundMark x1="33810" y1="50524" x2="33810" y2="50524"/>
                        <a14:foregroundMark x1="54405" y1="49593" x2="54405" y2="49593"/>
                        <a14:foregroundMark x1="59524" y1="50524" x2="59524" y2="50524"/>
                        <a14:foregroundMark x1="65714" y1="47730" x2="65714" y2="47730"/>
                        <a14:foregroundMark x1="84762" y1="42375" x2="84762" y2="42375"/>
                        <a14:foregroundMark x1="83810" y1="41909" x2="84405" y2="44470"/>
                        <a14:foregroundMark x1="89286" y1="46799" x2="91905" y2="45867"/>
                        <a14:foregroundMark x1="89643" y1="52503" x2="92976" y2="54715"/>
                        <a14:foregroundMark x1="84405" y1="55646" x2="84405" y2="59837"/>
                        <a14:foregroundMark x1="78095" y1="53783" x2="75833" y2="54133"/>
                        <a14:foregroundMark x1="79167" y1="47497" x2="76429" y2="46100"/>
                        <a14:backgroundMark x1="53095" y1="53318" x2="53095" y2="53318"/>
                        <a14:backgroundMark x1="23333" y1="53434" x2="23333" y2="53434"/>
                      </a14:backgroundRemoval>
                    </a14:imgEffect>
                  </a14:imgLayer>
                </a14:imgProps>
              </a:ext>
              <a:ext uri="{28A0092B-C50C-407E-A947-70E740481C1C}">
                <a14:useLocalDpi xmlns:a14="http://schemas.microsoft.com/office/drawing/2010/main" val="0"/>
              </a:ext>
            </a:extLst>
          </a:blip>
          <a:stretch>
            <a:fillRect/>
          </a:stretch>
        </p:blipFill>
        <p:spPr>
          <a:xfrm>
            <a:off x="11096270" y="-175502"/>
            <a:ext cx="905230" cy="925706"/>
          </a:xfrm>
          <a:prstGeom prst="rect">
            <a:avLst/>
          </a:prstGeom>
        </p:spPr>
      </p:pic>
    </p:spTree>
    <p:extLst>
      <p:ext uri="{BB962C8B-B14F-4D97-AF65-F5344CB8AC3E}">
        <p14:creationId xmlns:p14="http://schemas.microsoft.com/office/powerpoint/2010/main" val="1456462275"/>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302</TotalTime>
  <Words>529</Words>
  <Application>Microsoft Office PowerPoint</Application>
  <PresentationFormat>Widescreen</PresentationFormat>
  <Paragraphs>71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Office Theme</vt:lpstr>
      <vt:lpstr>Walmart Sales &amp; Customer Analysis Using SQL</vt:lpstr>
      <vt:lpstr>Project Overview</vt:lpstr>
      <vt:lpstr>Dataset Description</vt:lpstr>
      <vt:lpstr>Data Preparation</vt:lpstr>
      <vt:lpstr>Business Objectives</vt:lpstr>
      <vt:lpstr>Sales Performance Analysis</vt:lpstr>
      <vt:lpstr>Time-based Analysis</vt:lpstr>
      <vt:lpstr>Payment and Profit Insights</vt:lpstr>
      <vt:lpstr>Customer and Rating Insights</vt:lpstr>
      <vt:lpstr>Key Performance Summary</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Walmart Sales &amp; Customer Analysis Using SQL</dc:title>
  <dc:creator>Debdatta</dc:creator>
  <cp:lastModifiedBy>Debdatta</cp:lastModifiedBy>
  <cp:revision>64</cp:revision>
  <dcterms:created xsi:type="dcterms:W3CDTF">2025-10-13T12:29:17Z</dcterms:created>
  <dcterms:modified xsi:type="dcterms:W3CDTF">2025-10-13T17:31:44Z</dcterms:modified>
</cp:coreProperties>
</file>